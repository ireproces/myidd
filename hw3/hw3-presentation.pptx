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a4f4989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a4f4989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a4f49892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a4f49892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a4f49892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a4f49892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a4f49892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a4f49892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1a4f49892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1a4f49892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1a4f49892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1a4f49892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a4f49892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a4f49892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1a4f49892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1a4f49892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1a4f49892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1a4f49892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1a4f49892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1a4f49892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1a4f49892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1a4f49892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1a4f49892_2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1a4f49892_2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a4f49892_2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1a4f49892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MAGNETO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Irene Proietti Cesarini, Giovanni Grieco, Silvia Mucci​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Obiettivi del lavoro</a:t>
            </a:r>
            <a:r>
              <a:rPr lang="en" sz="3500"/>
              <a:t>​</a:t>
            </a:r>
            <a:endParaRPr sz="3500"/>
          </a:p>
        </p:txBody>
      </p:sp>
      <p:sp>
        <p:nvSpPr>
          <p:cNvPr id="61" name="Google Shape;61;p14"/>
          <p:cNvSpPr txBox="1"/>
          <p:nvPr/>
        </p:nvSpPr>
        <p:spPr>
          <a:xfrm>
            <a:off x="1107225" y="3412100"/>
            <a:ext cx="20817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FORMULAZIONE DEL PROBLEMA: SCHEMA MATCHING</a:t>
            </a:r>
            <a:endParaRPr b="1" sz="1100"/>
          </a:p>
        </p:txBody>
      </p:sp>
      <p:sp>
        <p:nvSpPr>
          <p:cNvPr id="62" name="Google Shape;62;p14"/>
          <p:cNvSpPr txBox="1"/>
          <p:nvPr/>
        </p:nvSpPr>
        <p:spPr>
          <a:xfrm>
            <a:off x="3612750" y="3444200"/>
            <a:ext cx="19185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SOLUZIONE PROPOSTA: MAGNETO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999025" y="3412100"/>
            <a:ext cx="19938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VALUTAZIONE DEI RISULTATI SPERIMENTALI</a:t>
            </a:r>
            <a:endParaRPr b="1" sz="1100">
              <a:solidFill>
                <a:schemeClr val="dk1"/>
              </a:solidFill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1334925" y="1635375"/>
            <a:ext cx="1626300" cy="1580400"/>
            <a:chOff x="1334925" y="1635375"/>
            <a:chExt cx="1626300" cy="1580400"/>
          </a:xfrm>
        </p:grpSpPr>
        <p:sp>
          <p:nvSpPr>
            <p:cNvPr id="65" name="Google Shape;65;p14"/>
            <p:cNvSpPr/>
            <p:nvPr/>
          </p:nvSpPr>
          <p:spPr>
            <a:xfrm>
              <a:off x="1334925" y="1635375"/>
              <a:ext cx="1626300" cy="1580400"/>
            </a:xfrm>
            <a:prstGeom prst="flowChartConnector">
              <a:avLst/>
            </a:prstGeom>
            <a:solidFill>
              <a:srgbClr val="6D9EEB"/>
            </a:solidFill>
            <a:ln cap="flat" cmpd="sng" w="9525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" name="Google Shape;6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06761" y="1984261"/>
              <a:ext cx="882625" cy="882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7" name="Google Shape;67;p14"/>
          <p:cNvGrpSpPr/>
          <p:nvPr/>
        </p:nvGrpSpPr>
        <p:grpSpPr>
          <a:xfrm>
            <a:off x="3758850" y="1635375"/>
            <a:ext cx="1626300" cy="1580400"/>
            <a:chOff x="3758850" y="1635375"/>
            <a:chExt cx="1626300" cy="1580400"/>
          </a:xfrm>
        </p:grpSpPr>
        <p:sp>
          <p:nvSpPr>
            <p:cNvPr id="68" name="Google Shape;68;p14"/>
            <p:cNvSpPr/>
            <p:nvPr/>
          </p:nvSpPr>
          <p:spPr>
            <a:xfrm>
              <a:off x="3758850" y="1635375"/>
              <a:ext cx="1626300" cy="1580400"/>
            </a:xfrm>
            <a:prstGeom prst="flowChartConnector">
              <a:avLst/>
            </a:prstGeom>
            <a:solidFill>
              <a:srgbClr val="9FC5E8"/>
            </a:solidFill>
            <a:ln cap="flat" cmpd="sng" w="9525">
              <a:solidFill>
                <a:srgbClr val="9FC5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" name="Google Shape;69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88500" y="2042050"/>
              <a:ext cx="767000" cy="767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14"/>
          <p:cNvGrpSpPr/>
          <p:nvPr/>
        </p:nvGrpSpPr>
        <p:grpSpPr>
          <a:xfrm>
            <a:off x="6182775" y="1635375"/>
            <a:ext cx="1626300" cy="1580400"/>
            <a:chOff x="6182775" y="1635375"/>
            <a:chExt cx="1626300" cy="1580400"/>
          </a:xfrm>
        </p:grpSpPr>
        <p:sp>
          <p:nvSpPr>
            <p:cNvPr id="71" name="Google Shape;71;p14"/>
            <p:cNvSpPr/>
            <p:nvPr/>
          </p:nvSpPr>
          <p:spPr>
            <a:xfrm>
              <a:off x="6182775" y="1635375"/>
              <a:ext cx="1626300" cy="1580400"/>
            </a:xfrm>
            <a:prstGeom prst="flowChartConnector">
              <a:avLst/>
            </a:prstGeom>
            <a:solidFill>
              <a:srgbClr val="3D85C6"/>
            </a:solidFill>
            <a:ln cap="flat" cmpd="sng" w="9525">
              <a:solidFill>
                <a:srgbClr val="3D85C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" name="Google Shape;72;p1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554625" y="1984250"/>
              <a:ext cx="882625" cy="882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Schema Matching</a:t>
            </a:r>
            <a:endParaRPr sz="3800"/>
          </a:p>
        </p:txBody>
      </p:sp>
      <p:grpSp>
        <p:nvGrpSpPr>
          <p:cNvPr id="78" name="Google Shape;78;p15"/>
          <p:cNvGrpSpPr/>
          <p:nvPr/>
        </p:nvGrpSpPr>
        <p:grpSpPr>
          <a:xfrm>
            <a:off x="481288" y="1371425"/>
            <a:ext cx="3990202" cy="1573050"/>
            <a:chOff x="481288" y="1371425"/>
            <a:chExt cx="3990202" cy="1573050"/>
          </a:xfrm>
        </p:grpSpPr>
        <p:pic>
          <p:nvPicPr>
            <p:cNvPr id="79" name="Google Shape;79;p15" title="Screenshot 2025-11-09 alle 00.52.39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288" y="1371425"/>
              <a:ext cx="1994525" cy="1573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5" title="Screenshot 2025-11-09 alle 00.53.02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85300" y="1371425"/>
              <a:ext cx="1886190" cy="15730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" name="Google Shape;81;p15" title="Screenshot 2025-11-09 alle 00.55.4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1152" y="2944475"/>
            <a:ext cx="2467597" cy="148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5217100" y="1769750"/>
            <a:ext cx="32157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Main Goal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rappresentare </a:t>
            </a:r>
            <a:r>
              <a:rPr i="1" lang="en" sz="1500">
                <a:solidFill>
                  <a:schemeClr val="dk1"/>
                </a:solidFill>
              </a:rPr>
              <a:t>S</a:t>
            </a:r>
            <a:r>
              <a:rPr lang="en" sz="1500">
                <a:solidFill>
                  <a:schemeClr val="dk1"/>
                </a:solidFill>
              </a:rPr>
              <a:t> con lo schema di </a:t>
            </a:r>
            <a:r>
              <a:rPr i="1" lang="en" sz="1500">
                <a:solidFill>
                  <a:schemeClr val="dk1"/>
                </a:solidFill>
              </a:rPr>
              <a:t>T</a:t>
            </a:r>
            <a:endParaRPr i="1" sz="15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46750" y="3118050"/>
            <a:ext cx="1863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Tabella S</a:t>
            </a:r>
            <a:r>
              <a:rPr lang="en" sz="1300">
                <a:solidFill>
                  <a:schemeClr val="dk1"/>
                </a:solidFill>
              </a:rPr>
              <a:t> – contiene i dati da </a:t>
            </a:r>
            <a:r>
              <a:rPr b="1" lang="en" sz="1300">
                <a:solidFill>
                  <a:schemeClr val="dk1"/>
                </a:solidFill>
              </a:rPr>
              <a:t>sorgenti autonome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2596600" y="3118050"/>
            <a:ext cx="1863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chemeClr val="dk1"/>
                </a:solidFill>
              </a:rPr>
              <a:t>Tabella T</a:t>
            </a:r>
            <a:r>
              <a:rPr lang="en" sz="1300">
                <a:solidFill>
                  <a:schemeClr val="dk1"/>
                </a:solidFill>
              </a:rPr>
              <a:t> – </a:t>
            </a:r>
            <a:r>
              <a:rPr b="1" lang="en" sz="1300">
                <a:solidFill>
                  <a:schemeClr val="dk1"/>
                </a:solidFill>
              </a:rPr>
              <a:t>definisce lo schema</a:t>
            </a:r>
            <a:r>
              <a:rPr lang="en" sz="1300">
                <a:solidFill>
                  <a:schemeClr val="dk1"/>
                </a:solidFill>
              </a:rPr>
              <a:t> su cui eseguire matching</a:t>
            </a:r>
            <a:endParaRPr b="1"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Magneto (2024)</a:t>
            </a:r>
            <a:endParaRPr/>
          </a:p>
        </p:txBody>
      </p:sp>
      <p:pic>
        <p:nvPicPr>
          <p:cNvPr id="90" name="Google Shape;90;p16" title="Screenshot 2025-11-09 alle 10.51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225" y="661263"/>
            <a:ext cx="3506592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311700" y="1182175"/>
            <a:ext cx="4493700" cy="79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Combina </a:t>
            </a:r>
            <a:r>
              <a:rPr b="1" i="1" lang="en" sz="1500">
                <a:solidFill>
                  <a:schemeClr val="dk1"/>
                </a:solidFill>
              </a:rPr>
              <a:t>Small Language Models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i="1" lang="en" sz="1500">
                <a:solidFill>
                  <a:schemeClr val="dk1"/>
                </a:solidFill>
              </a:rPr>
              <a:t>SLM</a:t>
            </a:r>
            <a:r>
              <a:rPr lang="en" sz="1500">
                <a:solidFill>
                  <a:schemeClr val="dk1"/>
                </a:solidFill>
              </a:rPr>
              <a:t>) e </a:t>
            </a:r>
            <a:r>
              <a:rPr b="1" i="1" lang="en" sz="1500">
                <a:solidFill>
                  <a:schemeClr val="dk1"/>
                </a:solidFill>
              </a:rPr>
              <a:t>Large Language Models</a:t>
            </a:r>
            <a:r>
              <a:rPr lang="en" sz="1500">
                <a:solidFill>
                  <a:schemeClr val="dk1"/>
                </a:solidFill>
              </a:rPr>
              <a:t> (</a:t>
            </a:r>
            <a:r>
              <a:rPr i="1" lang="en" sz="1500">
                <a:solidFill>
                  <a:schemeClr val="dk1"/>
                </a:solidFill>
              </a:rPr>
              <a:t>LLM</a:t>
            </a:r>
            <a:r>
              <a:rPr lang="en" sz="1500">
                <a:solidFill>
                  <a:schemeClr val="dk1"/>
                </a:solidFill>
              </a:rPr>
              <a:t>).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311700" y="2137725"/>
            <a:ext cx="4493700" cy="18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dk1"/>
                </a:solidFill>
              </a:rPr>
              <a:t>Pipeline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Priority Sampling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Column Serialization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Fine-Tuning SLM (opzionale)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Candidate Retrieval (embedding + similarità)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Reranking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Priority Sampling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11700" y="1081675"/>
            <a:ext cx="31143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Necessità di </a:t>
            </a:r>
            <a:r>
              <a:rPr b="1" lang="en" sz="1700">
                <a:solidFill>
                  <a:schemeClr val="dk1"/>
                </a:solidFill>
              </a:rPr>
              <a:t>campionamento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5901750" y="1058725"/>
            <a:ext cx="17175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Troppo </a:t>
            </a:r>
            <a:r>
              <a:rPr b="1" lang="en" sz="1500">
                <a:solidFill>
                  <a:schemeClr val="dk1"/>
                </a:solidFill>
              </a:rPr>
              <a:t>rumore</a:t>
            </a:r>
            <a:endParaRPr b="1" sz="1500">
              <a:solidFill>
                <a:schemeClr val="dk1"/>
              </a:solidFill>
            </a:endParaRPr>
          </a:p>
        </p:txBody>
      </p:sp>
      <p:grpSp>
        <p:nvGrpSpPr>
          <p:cNvPr id="100" name="Google Shape;100;p17"/>
          <p:cNvGrpSpPr/>
          <p:nvPr/>
        </p:nvGrpSpPr>
        <p:grpSpPr>
          <a:xfrm>
            <a:off x="3426000" y="1314475"/>
            <a:ext cx="2475900" cy="232800"/>
            <a:chOff x="3426000" y="1314475"/>
            <a:chExt cx="2475900" cy="232800"/>
          </a:xfrm>
        </p:grpSpPr>
        <p:cxnSp>
          <p:nvCxnSpPr>
            <p:cNvPr id="101" name="Google Shape;101;p17"/>
            <p:cNvCxnSpPr>
              <a:stCxn id="98" idx="3"/>
              <a:endCxn id="99" idx="1"/>
            </p:cNvCxnSpPr>
            <p:nvPr/>
          </p:nvCxnSpPr>
          <p:spPr>
            <a:xfrm>
              <a:off x="3426000" y="1314475"/>
              <a:ext cx="2475900" cy="0"/>
            </a:xfrm>
            <a:prstGeom prst="straightConnector1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2" name="Google Shape;102;p17"/>
            <p:cNvSpPr txBox="1"/>
            <p:nvPr/>
          </p:nvSpPr>
          <p:spPr>
            <a:xfrm>
              <a:off x="4152225" y="1374775"/>
              <a:ext cx="1023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Perchè?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grpSp>
        <p:nvGrpSpPr>
          <p:cNvPr id="103" name="Google Shape;103;p17"/>
          <p:cNvGrpSpPr/>
          <p:nvPr/>
        </p:nvGrpSpPr>
        <p:grpSpPr>
          <a:xfrm>
            <a:off x="1868850" y="1547275"/>
            <a:ext cx="1456500" cy="1254000"/>
            <a:chOff x="1868850" y="1547275"/>
            <a:chExt cx="1456500" cy="1254000"/>
          </a:xfrm>
        </p:grpSpPr>
        <p:cxnSp>
          <p:nvCxnSpPr>
            <p:cNvPr id="104" name="Google Shape;104;p17"/>
            <p:cNvCxnSpPr>
              <a:stCxn id="98" idx="2"/>
              <a:endCxn id="105" idx="0"/>
            </p:cNvCxnSpPr>
            <p:nvPr/>
          </p:nvCxnSpPr>
          <p:spPr>
            <a:xfrm>
              <a:off x="1868850" y="1547275"/>
              <a:ext cx="8100" cy="1254000"/>
            </a:xfrm>
            <a:prstGeom prst="straightConnector1">
              <a:avLst/>
            </a:pr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6" name="Google Shape;106;p17"/>
            <p:cNvSpPr txBox="1"/>
            <p:nvPr/>
          </p:nvSpPr>
          <p:spPr>
            <a:xfrm>
              <a:off x="1868850" y="2033263"/>
              <a:ext cx="14565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Quali valori scegliere?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grpSp>
        <p:nvGrpSpPr>
          <p:cNvPr id="107" name="Google Shape;107;p17"/>
          <p:cNvGrpSpPr/>
          <p:nvPr/>
        </p:nvGrpSpPr>
        <p:grpSpPr>
          <a:xfrm>
            <a:off x="643538" y="2801263"/>
            <a:ext cx="2087200" cy="446400"/>
            <a:chOff x="643538" y="2801263"/>
            <a:chExt cx="2087200" cy="446400"/>
          </a:xfrm>
        </p:grpSpPr>
        <p:sp>
          <p:nvSpPr>
            <p:cNvPr id="105" name="Google Shape;105;p17"/>
            <p:cNvSpPr txBox="1"/>
            <p:nvPr/>
          </p:nvSpPr>
          <p:spPr>
            <a:xfrm>
              <a:off x="1023438" y="2801263"/>
              <a:ext cx="1707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>
                  <a:solidFill>
                    <a:schemeClr val="dk1"/>
                  </a:solidFill>
                </a:rPr>
                <a:t>Valori “</a:t>
              </a:r>
              <a:r>
                <a:rPr b="1" lang="en" sz="1700">
                  <a:solidFill>
                    <a:schemeClr val="dk1"/>
                  </a:solidFill>
                </a:rPr>
                <a:t>ancora</a:t>
              </a:r>
              <a:r>
                <a:rPr lang="en" sz="1700">
                  <a:solidFill>
                    <a:schemeClr val="dk1"/>
                  </a:solidFill>
                </a:rPr>
                <a:t>”</a:t>
              </a:r>
              <a:endParaRPr sz="1700">
                <a:solidFill>
                  <a:schemeClr val="dk1"/>
                </a:solidFill>
              </a:endParaRPr>
            </a:p>
          </p:txBody>
        </p:sp>
        <p:pic>
          <p:nvPicPr>
            <p:cNvPr id="108" name="Google Shape;10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3538" y="2834513"/>
              <a:ext cx="379925" cy="379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17"/>
          <p:cNvGrpSpPr/>
          <p:nvPr/>
        </p:nvGrpSpPr>
        <p:grpSpPr>
          <a:xfrm>
            <a:off x="643547" y="3330825"/>
            <a:ext cx="4727653" cy="799435"/>
            <a:chOff x="1085797" y="3350800"/>
            <a:chExt cx="4727653" cy="799435"/>
          </a:xfrm>
        </p:grpSpPr>
        <p:pic>
          <p:nvPicPr>
            <p:cNvPr id="110" name="Google Shape;110;p17" title="Screenshot 2025-11-09 alle 11.18.28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85797" y="3350800"/>
              <a:ext cx="1456500" cy="7994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7" title="Screenshot 2025-11-09 alle 11.19.26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26000" y="3591700"/>
              <a:ext cx="2387450" cy="317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" name="Google Shape;112;p17"/>
            <p:cNvSpPr txBox="1"/>
            <p:nvPr/>
          </p:nvSpPr>
          <p:spPr>
            <a:xfrm>
              <a:off x="2813700" y="3627975"/>
              <a:ext cx="612300" cy="24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dove</a:t>
              </a:r>
              <a:endParaRPr sz="15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Column Serialization</a:t>
            </a: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311700" y="1081675"/>
            <a:ext cx="3609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Necessità di </a:t>
            </a:r>
            <a:r>
              <a:rPr b="1" lang="en" sz="1700">
                <a:solidFill>
                  <a:schemeClr val="dk1"/>
                </a:solidFill>
              </a:rPr>
              <a:t>serializzare le tabelle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119" name="Google Shape;119;p18"/>
          <p:cNvGrpSpPr/>
          <p:nvPr/>
        </p:nvGrpSpPr>
        <p:grpSpPr>
          <a:xfrm>
            <a:off x="3921300" y="1314475"/>
            <a:ext cx="2126400" cy="202200"/>
            <a:chOff x="3921300" y="1314475"/>
            <a:chExt cx="2126400" cy="202200"/>
          </a:xfrm>
        </p:grpSpPr>
        <p:cxnSp>
          <p:nvCxnSpPr>
            <p:cNvPr id="120" name="Google Shape;120;p18"/>
            <p:cNvCxnSpPr>
              <a:stCxn id="118" idx="3"/>
              <a:endCxn id="121" idx="1"/>
            </p:cNvCxnSpPr>
            <p:nvPr/>
          </p:nvCxnSpPr>
          <p:spPr>
            <a:xfrm>
              <a:off x="3921300" y="1314475"/>
              <a:ext cx="2126400" cy="600"/>
            </a:xfrm>
            <a:prstGeom prst="straightConnector1">
              <a:avLst/>
            </a:prstGeom>
            <a:noFill/>
            <a:ln cap="flat" cmpd="sng" w="18950">
              <a:solidFill>
                <a:srgbClr val="3D85C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" name="Google Shape;122;p18"/>
            <p:cNvSpPr txBox="1"/>
            <p:nvPr/>
          </p:nvSpPr>
          <p:spPr>
            <a:xfrm>
              <a:off x="4475299" y="1345075"/>
              <a:ext cx="1018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000" lIns="91000" spcFirstLastPara="1" rIns="91000" wrap="square" tIns="9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5">
                  <a:solidFill>
                    <a:schemeClr val="dk1"/>
                  </a:solidFill>
                </a:rPr>
                <a:t>Perchè?</a:t>
              </a:r>
              <a:endParaRPr sz="1094">
                <a:solidFill>
                  <a:schemeClr val="dk1"/>
                </a:solidFill>
              </a:endParaRPr>
            </a:p>
          </p:txBody>
        </p:sp>
      </p:grpSp>
      <p:sp>
        <p:nvSpPr>
          <p:cNvPr id="121" name="Google Shape;121;p18"/>
          <p:cNvSpPr txBox="1"/>
          <p:nvPr/>
        </p:nvSpPr>
        <p:spPr>
          <a:xfrm>
            <a:off x="6047800" y="1059325"/>
            <a:ext cx="25404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SLM elabora </a:t>
            </a:r>
            <a:r>
              <a:rPr b="1" lang="en" sz="1500">
                <a:solidFill>
                  <a:schemeClr val="dk1"/>
                </a:solidFill>
              </a:rPr>
              <a:t>dati testuali</a:t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123" name="Google Shape;123;p18" title="Screenshot 2025-11-09 alle 11.36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625" y="2208450"/>
            <a:ext cx="4980349" cy="2290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8"/>
          <p:cNvGrpSpPr/>
          <p:nvPr/>
        </p:nvGrpSpPr>
        <p:grpSpPr>
          <a:xfrm>
            <a:off x="802025" y="1547275"/>
            <a:ext cx="1455600" cy="1482900"/>
            <a:chOff x="1498000" y="1564250"/>
            <a:chExt cx="1455600" cy="1482900"/>
          </a:xfrm>
        </p:grpSpPr>
        <p:sp>
          <p:nvSpPr>
            <p:cNvPr id="125" name="Google Shape;125;p18"/>
            <p:cNvSpPr txBox="1"/>
            <p:nvPr/>
          </p:nvSpPr>
          <p:spPr>
            <a:xfrm>
              <a:off x="1818900" y="2840625"/>
              <a:ext cx="6207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Come?</a:t>
              </a:r>
              <a:endParaRPr sz="1100">
                <a:solidFill>
                  <a:schemeClr val="dk1"/>
                </a:solidFill>
              </a:endParaRPr>
            </a:p>
          </p:txBody>
        </p:sp>
        <p:cxnSp>
          <p:nvCxnSpPr>
            <p:cNvPr id="126" name="Google Shape;126;p18"/>
            <p:cNvCxnSpPr/>
            <p:nvPr/>
          </p:nvCxnSpPr>
          <p:spPr>
            <a:xfrm flipH="1" rot="-5400000">
              <a:off x="1484350" y="1577900"/>
              <a:ext cx="1482900" cy="1455600"/>
            </a:xfrm>
            <a:prstGeom prst="bentConnector3">
              <a:avLst>
                <a:gd fmla="val 100566" name="adj1"/>
              </a:avLst>
            </a:pr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Fine-Tuning SLM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311700" y="1081675"/>
            <a:ext cx="3924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Necessità di </a:t>
            </a:r>
            <a:r>
              <a:rPr b="1" lang="en" sz="1700">
                <a:solidFill>
                  <a:schemeClr val="dk1"/>
                </a:solidFill>
              </a:rPr>
              <a:t>generare dati di training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133" name="Google Shape;133;p19"/>
          <p:cNvGrpSpPr/>
          <p:nvPr/>
        </p:nvGrpSpPr>
        <p:grpSpPr>
          <a:xfrm>
            <a:off x="4236300" y="1314475"/>
            <a:ext cx="1354200" cy="232800"/>
            <a:chOff x="4236300" y="1314475"/>
            <a:chExt cx="1354200" cy="232800"/>
          </a:xfrm>
        </p:grpSpPr>
        <p:cxnSp>
          <p:nvCxnSpPr>
            <p:cNvPr id="134" name="Google Shape;134;p19"/>
            <p:cNvCxnSpPr>
              <a:stCxn id="132" idx="3"/>
              <a:endCxn id="135" idx="1"/>
            </p:cNvCxnSpPr>
            <p:nvPr/>
          </p:nvCxnSpPr>
          <p:spPr>
            <a:xfrm>
              <a:off x="4236300" y="1314475"/>
              <a:ext cx="1354200" cy="300"/>
            </a:xfrm>
            <a:prstGeom prst="straightConnector1">
              <a:avLst/>
            </a:prstGeom>
            <a:noFill/>
            <a:ln cap="flat" cmpd="sng" w="18950">
              <a:solidFill>
                <a:srgbClr val="3D85C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6" name="Google Shape;136;p19"/>
            <p:cNvSpPr txBox="1"/>
            <p:nvPr/>
          </p:nvSpPr>
          <p:spPr>
            <a:xfrm>
              <a:off x="4404187" y="1375675"/>
              <a:ext cx="10185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000" lIns="91000" spcFirstLastPara="1" rIns="91000" wrap="square" tIns="9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95">
                  <a:solidFill>
                    <a:schemeClr val="dk1"/>
                  </a:solidFill>
                </a:rPr>
                <a:t>Perchè?</a:t>
              </a:r>
              <a:endParaRPr sz="1094">
                <a:solidFill>
                  <a:schemeClr val="dk1"/>
                </a:solidFill>
              </a:endParaRPr>
            </a:p>
          </p:txBody>
        </p:sp>
      </p:grpSp>
      <p:sp>
        <p:nvSpPr>
          <p:cNvPr id="135" name="Google Shape;135;p19"/>
          <p:cNvSpPr txBox="1"/>
          <p:nvPr/>
        </p:nvSpPr>
        <p:spPr>
          <a:xfrm>
            <a:off x="5590575" y="1058875"/>
            <a:ext cx="33684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Migliorare la </a:t>
            </a:r>
            <a:r>
              <a:rPr b="1" lang="en" sz="1500">
                <a:solidFill>
                  <a:schemeClr val="dk1"/>
                </a:solidFill>
              </a:rPr>
              <a:t>robustezza</a:t>
            </a:r>
            <a:r>
              <a:rPr lang="en" sz="1500">
                <a:solidFill>
                  <a:schemeClr val="dk1"/>
                </a:solidFill>
              </a:rPr>
              <a:t> degli SLM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480300" y="2338975"/>
            <a:ext cx="35874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Utilizzo degli LLM per i dati sintetici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38" name="Google Shape;138;p19" title="Screenshot 2025-11-09 alle 11.5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74" y="2759876"/>
            <a:ext cx="3409649" cy="1649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5119275" y="1712275"/>
            <a:ext cx="272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Strategia </a:t>
            </a:r>
            <a:r>
              <a:rPr b="1" lang="en" sz="1800">
                <a:solidFill>
                  <a:schemeClr val="dk1"/>
                </a:solidFill>
              </a:rPr>
              <a:t>Triplet Loss</a:t>
            </a:r>
            <a:endParaRPr b="1" sz="1800">
              <a:solidFill>
                <a:schemeClr val="dk1"/>
              </a:solidFill>
            </a:endParaRPr>
          </a:p>
        </p:txBody>
      </p:sp>
      <p:grpSp>
        <p:nvGrpSpPr>
          <p:cNvPr id="140" name="Google Shape;140;p19"/>
          <p:cNvGrpSpPr/>
          <p:nvPr/>
        </p:nvGrpSpPr>
        <p:grpSpPr>
          <a:xfrm>
            <a:off x="1667700" y="1547275"/>
            <a:ext cx="3451500" cy="791700"/>
            <a:chOff x="1667700" y="1547275"/>
            <a:chExt cx="3451500" cy="791700"/>
          </a:xfrm>
        </p:grpSpPr>
        <p:cxnSp>
          <p:nvCxnSpPr>
            <p:cNvPr id="141" name="Google Shape;141;p19"/>
            <p:cNvCxnSpPr>
              <a:stCxn id="132" idx="2"/>
              <a:endCxn id="137" idx="0"/>
            </p:cNvCxnSpPr>
            <p:nvPr/>
          </p:nvCxnSpPr>
          <p:spPr>
            <a:xfrm>
              <a:off x="2274000" y="1547275"/>
              <a:ext cx="0" cy="791700"/>
            </a:xfrm>
            <a:prstGeom prst="straightConnector1">
              <a:avLst/>
            </a:pr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2" name="Google Shape;142;p19"/>
            <p:cNvSpPr txBox="1"/>
            <p:nvPr/>
          </p:nvSpPr>
          <p:spPr>
            <a:xfrm>
              <a:off x="1667700" y="1856863"/>
              <a:ext cx="606300" cy="1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</a:rPr>
                <a:t>Come?</a:t>
              </a:r>
              <a:endParaRPr sz="1100">
                <a:solidFill>
                  <a:schemeClr val="dk1"/>
                </a:solidFill>
              </a:endParaRPr>
            </a:p>
          </p:txBody>
        </p:sp>
        <p:cxnSp>
          <p:nvCxnSpPr>
            <p:cNvPr id="143" name="Google Shape;143;p19"/>
            <p:cNvCxnSpPr>
              <a:stCxn id="142" idx="3"/>
              <a:endCxn id="139" idx="1"/>
            </p:cNvCxnSpPr>
            <p:nvPr/>
          </p:nvCxnSpPr>
          <p:spPr>
            <a:xfrm>
              <a:off x="2274000" y="1943113"/>
              <a:ext cx="2845200" cy="0"/>
            </a:xfrm>
            <a:prstGeom prst="straightConnector1">
              <a:avLst/>
            </a:pr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144" name="Google Shape;144;p19" title="Screenshot 2025-11-09 alle 12.01.1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024" y="2173975"/>
            <a:ext cx="2450400" cy="24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Embedding tramite SLM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1239000" y="1407850"/>
            <a:ext cx="666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Necessità di </a:t>
            </a:r>
            <a:r>
              <a:rPr b="1" lang="en" sz="1700">
                <a:solidFill>
                  <a:schemeClr val="dk1"/>
                </a:solidFill>
              </a:rPr>
              <a:t>convertire</a:t>
            </a:r>
            <a:r>
              <a:rPr lang="en" sz="1700">
                <a:solidFill>
                  <a:schemeClr val="dk1"/>
                </a:solidFill>
              </a:rPr>
              <a:t> le colonne </a:t>
            </a:r>
            <a:r>
              <a:rPr b="1" lang="en" sz="1700">
                <a:solidFill>
                  <a:schemeClr val="dk1"/>
                </a:solidFill>
              </a:rPr>
              <a:t>in</a:t>
            </a:r>
            <a:r>
              <a:rPr lang="en" sz="1700">
                <a:solidFill>
                  <a:schemeClr val="dk1"/>
                </a:solidFill>
              </a:rPr>
              <a:t> </a:t>
            </a:r>
            <a:r>
              <a:rPr b="1" lang="en" sz="1700">
                <a:solidFill>
                  <a:schemeClr val="dk1"/>
                </a:solidFill>
              </a:rPr>
              <a:t>vettori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1" name="Google Shape;151;p20"/>
          <p:cNvSpPr txBox="1"/>
          <p:nvPr/>
        </p:nvSpPr>
        <p:spPr>
          <a:xfrm>
            <a:off x="989400" y="2442225"/>
            <a:ext cx="71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Per ogni colonna A, si calcola la </a:t>
            </a:r>
            <a:r>
              <a:rPr b="1" lang="en" sz="1700">
                <a:solidFill>
                  <a:schemeClr val="dk1"/>
                </a:solidFill>
              </a:rPr>
              <a:t>similarità</a:t>
            </a:r>
            <a:r>
              <a:rPr lang="en" sz="1700">
                <a:solidFill>
                  <a:schemeClr val="dk1"/>
                </a:solidFill>
              </a:rPr>
              <a:t> con tutte le colonne di B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606000" y="3476600"/>
            <a:ext cx="793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Si ottiene una </a:t>
            </a:r>
            <a:r>
              <a:rPr b="1" lang="en" sz="1700">
                <a:solidFill>
                  <a:schemeClr val="dk1"/>
                </a:solidFill>
              </a:rPr>
              <a:t>lista ordinata di matching</a:t>
            </a:r>
            <a:r>
              <a:rPr lang="en" sz="1700">
                <a:solidFill>
                  <a:schemeClr val="dk1"/>
                </a:solidFill>
              </a:rPr>
              <a:t>, basata sulla distanza vettoriale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650" y="1869538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5650" y="2903913"/>
            <a:ext cx="5727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Reranking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311700" y="1081675"/>
            <a:ext cx="8520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chemeClr val="dk1"/>
                </a:solidFill>
              </a:rPr>
              <a:t>Problema</a:t>
            </a:r>
            <a:r>
              <a:rPr lang="en" sz="1700">
                <a:solidFill>
                  <a:schemeClr val="dk1"/>
                </a:solidFill>
              </a:rPr>
              <a:t>: potrebbero esistere </a:t>
            </a:r>
            <a:r>
              <a:rPr b="1" lang="en" sz="1700">
                <a:solidFill>
                  <a:schemeClr val="dk1"/>
                </a:solidFill>
              </a:rPr>
              <a:t>più colonne</a:t>
            </a:r>
            <a:r>
              <a:rPr lang="en" sz="1700">
                <a:solidFill>
                  <a:schemeClr val="dk1"/>
                </a:solidFill>
              </a:rPr>
              <a:t> di </a:t>
            </a:r>
            <a:r>
              <a:rPr i="1" lang="en" sz="1700">
                <a:solidFill>
                  <a:schemeClr val="dk1"/>
                </a:solidFill>
              </a:rPr>
              <a:t>S</a:t>
            </a:r>
            <a:r>
              <a:rPr lang="en" sz="1700">
                <a:solidFill>
                  <a:schemeClr val="dk1"/>
                </a:solidFill>
              </a:rPr>
              <a:t> che reputano come “</a:t>
            </a:r>
            <a:r>
              <a:rPr b="1" lang="en" sz="1700">
                <a:solidFill>
                  <a:schemeClr val="dk1"/>
                </a:solidFill>
              </a:rPr>
              <a:t>best match</a:t>
            </a:r>
            <a:r>
              <a:rPr lang="en" sz="1700">
                <a:solidFill>
                  <a:schemeClr val="dk1"/>
                </a:solidFill>
              </a:rPr>
              <a:t>” la stessa colonna di </a:t>
            </a:r>
            <a:r>
              <a:rPr i="1" lang="en" sz="1700">
                <a:solidFill>
                  <a:schemeClr val="dk1"/>
                </a:solidFill>
              </a:rPr>
              <a:t>T</a:t>
            </a:r>
            <a:r>
              <a:rPr lang="en" sz="1700">
                <a:solidFill>
                  <a:schemeClr val="dk1"/>
                </a:solidFill>
              </a:rPr>
              <a:t>…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61" name="Google Shape;161;p21" title="Screenshot 2025-11-09 alle 12.31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8675" y="1735375"/>
            <a:ext cx="3109350" cy="286917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311700" y="3066950"/>
            <a:ext cx="3623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700">
                <a:solidFill>
                  <a:schemeClr val="dk1"/>
                </a:solidFill>
              </a:rPr>
              <a:t>Algoritmi per grafi bipartiti</a:t>
            </a:r>
            <a:endParaRPr sz="17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700">
                <a:solidFill>
                  <a:schemeClr val="dk1"/>
                </a:solidFill>
              </a:rPr>
              <a:t>LLM as reranker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163" name="Google Shape;163;p21"/>
          <p:cNvGrpSpPr/>
          <p:nvPr/>
        </p:nvGrpSpPr>
        <p:grpSpPr>
          <a:xfrm>
            <a:off x="1224875" y="1769250"/>
            <a:ext cx="974400" cy="1276500"/>
            <a:chOff x="1224875" y="1769250"/>
            <a:chExt cx="974400" cy="1276500"/>
          </a:xfrm>
        </p:grpSpPr>
        <p:cxnSp>
          <p:nvCxnSpPr>
            <p:cNvPr id="164" name="Google Shape;164;p21"/>
            <p:cNvCxnSpPr/>
            <p:nvPr/>
          </p:nvCxnSpPr>
          <p:spPr>
            <a:xfrm>
              <a:off x="1224875" y="1769250"/>
              <a:ext cx="5700" cy="1276500"/>
            </a:xfrm>
            <a:prstGeom prst="straightConnector1">
              <a:avLst/>
            </a:prstGeom>
            <a:noFill/>
            <a:ln cap="flat" cmpd="sng" w="19050">
              <a:solidFill>
                <a:srgbClr val="1155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5" name="Google Shape;165;p21"/>
            <p:cNvSpPr txBox="1"/>
            <p:nvPr/>
          </p:nvSpPr>
          <p:spPr>
            <a:xfrm>
              <a:off x="1230575" y="2224175"/>
              <a:ext cx="9687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Soluzioni?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Metriche utilizzate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786875" y="1252575"/>
            <a:ext cx="3325800" cy="19692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Mean Reciprocal Rank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" sz="1500" u="sng"/>
              <a:t>Misura</a:t>
            </a:r>
            <a:r>
              <a:rPr lang="en" sz="1500"/>
              <a:t> quanto in alto viene classificato il match corretto per ogni colonna di </a:t>
            </a:r>
            <a:r>
              <a:rPr i="1" lang="en" sz="1500"/>
              <a:t>S</a:t>
            </a:r>
            <a:endParaRPr i="1"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❖"/>
            </a:pPr>
            <a:r>
              <a:rPr lang="en" sz="1500" u="sng"/>
              <a:t>Utile per</a:t>
            </a:r>
            <a:r>
              <a:rPr lang="en" sz="1500"/>
              <a:t> capire la bontà del ranking delle colonne di </a:t>
            </a:r>
            <a:r>
              <a:rPr i="1" lang="en" sz="1500"/>
              <a:t>T</a:t>
            </a:r>
            <a:endParaRPr i="1" sz="1500"/>
          </a:p>
        </p:txBody>
      </p:sp>
      <p:sp>
        <p:nvSpPr>
          <p:cNvPr id="172" name="Google Shape;172;p22"/>
          <p:cNvSpPr/>
          <p:nvPr/>
        </p:nvSpPr>
        <p:spPr>
          <a:xfrm>
            <a:off x="4888938" y="1252575"/>
            <a:ext cx="3325800" cy="19692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952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Recall at Ground Truth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u="sng">
                <a:solidFill>
                  <a:schemeClr val="dk1"/>
                </a:solidFill>
              </a:rPr>
              <a:t>Misura</a:t>
            </a:r>
            <a:r>
              <a:rPr lang="en" sz="1500">
                <a:solidFill>
                  <a:schemeClr val="dk1"/>
                </a:solidFill>
              </a:rPr>
              <a:t> quanti dei match totali sono corretti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 u="sng">
                <a:solidFill>
                  <a:schemeClr val="dk1"/>
                </a:solidFill>
              </a:rPr>
              <a:t>Utile per</a:t>
            </a:r>
            <a:r>
              <a:rPr lang="en" sz="1500">
                <a:solidFill>
                  <a:schemeClr val="dk1"/>
                </a:solidFill>
              </a:rPr>
              <a:t> valutare la capacità del sistema di porre i match corretti nelle prime top-k posizioni di </a:t>
            </a:r>
            <a:r>
              <a:rPr i="1" lang="en" sz="1500">
                <a:solidFill>
                  <a:schemeClr val="dk1"/>
                </a:solidFill>
              </a:rPr>
              <a:t>M</a:t>
            </a:r>
            <a:endParaRPr i="1" sz="1500">
              <a:solidFill>
                <a:schemeClr val="dk1"/>
              </a:solidFill>
            </a:endParaRPr>
          </a:p>
        </p:txBody>
      </p:sp>
      <p:pic>
        <p:nvPicPr>
          <p:cNvPr id="173" name="Google Shape;173;p22" title="Screenshot 2025-11-09 alle 12.44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3148" y="3456625"/>
            <a:ext cx="2033250" cy="70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 title="Screenshot 2025-11-09 alle 12.44.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5925" y="3456625"/>
            <a:ext cx="2291837" cy="7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"/>
                            </p:stCondLst>
                            <p:childTnLst>
                              <p:par>
                                <p:cTn fill="hold" nodeType="after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GDC Benchmark</a:t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311700" y="1306700"/>
            <a:ext cx="3906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Benchmark </a:t>
            </a:r>
            <a:r>
              <a:rPr b="1" lang="en" sz="1700">
                <a:solidFill>
                  <a:schemeClr val="dk1"/>
                </a:solidFill>
              </a:rPr>
              <a:t>ad hoc</a:t>
            </a:r>
            <a:r>
              <a:rPr lang="en" sz="1700">
                <a:solidFill>
                  <a:schemeClr val="dk1"/>
                </a:solidFill>
              </a:rPr>
              <a:t> su dati oncologici</a:t>
            </a:r>
            <a:endParaRPr sz="1700">
              <a:solidFill>
                <a:schemeClr val="dk1"/>
              </a:solidFill>
            </a:endParaRPr>
          </a:p>
        </p:txBody>
      </p:sp>
      <p:grpSp>
        <p:nvGrpSpPr>
          <p:cNvPr id="181" name="Google Shape;181;p23"/>
          <p:cNvGrpSpPr/>
          <p:nvPr/>
        </p:nvGrpSpPr>
        <p:grpSpPr>
          <a:xfrm>
            <a:off x="1165450" y="1753098"/>
            <a:ext cx="1615975" cy="852191"/>
            <a:chOff x="1224875" y="1769250"/>
            <a:chExt cx="1615975" cy="1276500"/>
          </a:xfrm>
        </p:grpSpPr>
        <p:cxnSp>
          <p:nvCxnSpPr>
            <p:cNvPr id="182" name="Google Shape;182;p23"/>
            <p:cNvCxnSpPr/>
            <p:nvPr/>
          </p:nvCxnSpPr>
          <p:spPr>
            <a:xfrm>
              <a:off x="1224875" y="1769250"/>
              <a:ext cx="5700" cy="1276500"/>
            </a:xfrm>
            <a:prstGeom prst="straightConnector1">
              <a:avLst/>
            </a:prstGeom>
            <a:noFill/>
            <a:ln cap="flat" cmpd="sng" w="19050">
              <a:solidFill>
                <a:srgbClr val="3D85C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" name="Google Shape;183;p23"/>
            <p:cNvSpPr txBox="1"/>
            <p:nvPr/>
          </p:nvSpPr>
          <p:spPr>
            <a:xfrm>
              <a:off x="1225050" y="2078720"/>
              <a:ext cx="16158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Perché è stato creato</a:t>
              </a:r>
              <a:r>
                <a:rPr lang="en" sz="1100">
                  <a:solidFill>
                    <a:schemeClr val="dk1"/>
                  </a:solidFill>
                </a:rPr>
                <a:t>?</a:t>
              </a:r>
              <a:endParaRPr sz="1100">
                <a:solidFill>
                  <a:schemeClr val="dk1"/>
                </a:solidFill>
              </a:endParaRPr>
            </a:p>
          </p:txBody>
        </p:sp>
      </p:grpSp>
      <p:sp>
        <p:nvSpPr>
          <p:cNvPr id="184" name="Google Shape;184;p23"/>
          <p:cNvSpPr txBox="1"/>
          <p:nvPr/>
        </p:nvSpPr>
        <p:spPr>
          <a:xfrm>
            <a:off x="311700" y="2605300"/>
            <a:ext cx="42603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Intrinsecamente </a:t>
            </a:r>
            <a:r>
              <a:rPr b="1" lang="en" sz="1700">
                <a:solidFill>
                  <a:schemeClr val="dk1"/>
                </a:solidFill>
              </a:rPr>
              <a:t>difficile</a:t>
            </a:r>
            <a:r>
              <a:rPr lang="en" sz="1700">
                <a:solidFill>
                  <a:schemeClr val="dk1"/>
                </a:solidFill>
              </a:rPr>
              <a:t>:</a:t>
            </a:r>
            <a:endParaRPr sz="17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700">
                <a:solidFill>
                  <a:schemeClr val="dk1"/>
                </a:solidFill>
              </a:rPr>
              <a:t>Difficoltà nel matching</a:t>
            </a:r>
            <a:endParaRPr sz="17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700">
                <a:solidFill>
                  <a:schemeClr val="dk1"/>
                </a:solidFill>
              </a:rPr>
              <a:t>Definizioni ambigue</a:t>
            </a:r>
            <a:endParaRPr sz="17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700">
                <a:solidFill>
                  <a:schemeClr val="dk1"/>
                </a:solidFill>
              </a:rPr>
              <a:t>Difficoltà nella semantica di alcune colonne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85" name="Google Shape;185;p23" title="Screenshot 2025-11-09 alle 14.11.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725" y="2571749"/>
            <a:ext cx="3805274" cy="182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 title="Screenshot 2025-11-09 alle 14.12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8725" y="1096600"/>
            <a:ext cx="3212175" cy="13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Risultati</a:t>
            </a:r>
            <a:endParaRPr/>
          </a:p>
        </p:txBody>
      </p:sp>
      <p:pic>
        <p:nvPicPr>
          <p:cNvPr id="192" name="Google Shape;192;p24" title="Screenshot 2025-11-09 alle 14.19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0100" y="1264538"/>
            <a:ext cx="3226200" cy="23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890100" y="3681150"/>
            <a:ext cx="322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Accuracy sul GDC Benchmark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94" name="Google Shape;194;p24" title="Screenshot 2025-11-09 alle 14.21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38575"/>
            <a:ext cx="2842351" cy="382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4"/>
          <p:cNvSpPr txBox="1"/>
          <p:nvPr/>
        </p:nvSpPr>
        <p:spPr>
          <a:xfrm>
            <a:off x="4571925" y="4429525"/>
            <a:ext cx="284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Accuracy</a:t>
            </a:r>
            <a:r>
              <a:rPr lang="en" sz="1300">
                <a:solidFill>
                  <a:schemeClr val="dk2"/>
                </a:solidFill>
              </a:rPr>
              <a:t> sui dataset Valentine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Conclusioni</a:t>
            </a:r>
            <a:endParaRPr/>
          </a:p>
        </p:txBody>
      </p:sp>
      <p:sp>
        <p:nvSpPr>
          <p:cNvPr id="201" name="Google Shape;201;p25"/>
          <p:cNvSpPr txBox="1"/>
          <p:nvPr/>
        </p:nvSpPr>
        <p:spPr>
          <a:xfrm>
            <a:off x="433200" y="1429725"/>
            <a:ext cx="7250100" cy="8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Magneto sfrutta una </a:t>
            </a:r>
            <a:r>
              <a:rPr b="1" lang="en" sz="1900">
                <a:solidFill>
                  <a:schemeClr val="dk1"/>
                </a:solidFill>
              </a:rPr>
              <a:t>strategia combinata</a:t>
            </a:r>
            <a:r>
              <a:rPr lang="en" sz="1900">
                <a:solidFill>
                  <a:schemeClr val="dk1"/>
                </a:solidFill>
              </a:rPr>
              <a:t> (SLM + LLM) per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bilanciare accuracy </a:t>
            </a:r>
            <a:r>
              <a:rPr lang="en" sz="1900">
                <a:solidFill>
                  <a:schemeClr val="dk1"/>
                </a:solidFill>
              </a:rPr>
              <a:t>e</a:t>
            </a:r>
            <a:r>
              <a:rPr b="1" lang="en" sz="1900">
                <a:solidFill>
                  <a:schemeClr val="dk1"/>
                </a:solidFill>
              </a:rPr>
              <a:t> runtime</a:t>
            </a:r>
            <a:endParaRPr b="1" sz="1900">
              <a:solidFill>
                <a:schemeClr val="dk1"/>
              </a:solidFill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1270975" y="2626700"/>
            <a:ext cx="72501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Criticità</a:t>
            </a:r>
            <a:r>
              <a:rPr lang="en" sz="1500">
                <a:solidFill>
                  <a:schemeClr val="dk1"/>
                </a:solidFill>
              </a:rPr>
              <a:t> del sistema: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Accuratezza del framework strettamente dipendente da SLM-retrieval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Qualità del reranking LLM-based dipendente dalla qualità del </a:t>
            </a:r>
            <a:r>
              <a:rPr lang="en" sz="1500">
                <a:solidFill>
                  <a:schemeClr val="dk1"/>
                </a:solidFill>
              </a:rPr>
              <a:t>prompt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" sz="1500">
                <a:solidFill>
                  <a:schemeClr val="dk1"/>
                </a:solidFill>
              </a:rPr>
              <a:t>Overhead introdotto dal reranking LLM-based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2725" y="1325963"/>
            <a:ext cx="890400" cy="8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00" y="2974950"/>
            <a:ext cx="751900" cy="75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Osservazioni</a:t>
            </a:r>
            <a:endParaRPr/>
          </a:p>
        </p:txBody>
      </p:sp>
      <p:grpSp>
        <p:nvGrpSpPr>
          <p:cNvPr id="210" name="Google Shape;210;p26"/>
          <p:cNvGrpSpPr/>
          <p:nvPr/>
        </p:nvGrpSpPr>
        <p:grpSpPr>
          <a:xfrm>
            <a:off x="1182450" y="1362875"/>
            <a:ext cx="1407000" cy="1323600"/>
            <a:chOff x="864425" y="1372000"/>
            <a:chExt cx="1407000" cy="1323600"/>
          </a:xfrm>
        </p:grpSpPr>
        <p:pic>
          <p:nvPicPr>
            <p:cNvPr id="211" name="Google Shape;211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14425" y="1580300"/>
              <a:ext cx="907000" cy="90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6"/>
            <p:cNvSpPr/>
            <p:nvPr/>
          </p:nvSpPr>
          <p:spPr>
            <a:xfrm>
              <a:off x="864425" y="1372000"/>
              <a:ext cx="1407000" cy="1323600"/>
            </a:xfrm>
            <a:prstGeom prst="ellipse">
              <a:avLst/>
            </a:prstGeom>
            <a:noFill/>
            <a:ln cap="flat" cmpd="sng" w="76200">
              <a:solidFill>
                <a:srgbClr val="6FA8D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" name="Google Shape;213;p26"/>
          <p:cNvGrpSpPr/>
          <p:nvPr/>
        </p:nvGrpSpPr>
        <p:grpSpPr>
          <a:xfrm>
            <a:off x="4663350" y="1362875"/>
            <a:ext cx="1407000" cy="1323600"/>
            <a:chOff x="4771250" y="1372000"/>
            <a:chExt cx="1407000" cy="1323600"/>
          </a:xfrm>
        </p:grpSpPr>
        <p:pic>
          <p:nvPicPr>
            <p:cNvPr id="214" name="Google Shape;214;p2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21250" y="1580300"/>
              <a:ext cx="907000" cy="90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6"/>
            <p:cNvSpPr/>
            <p:nvPr/>
          </p:nvSpPr>
          <p:spPr>
            <a:xfrm>
              <a:off x="4771250" y="1372000"/>
              <a:ext cx="1407000" cy="1323600"/>
            </a:xfrm>
            <a:prstGeom prst="ellipse">
              <a:avLst/>
            </a:prstGeom>
            <a:noFill/>
            <a:ln cap="flat" cmpd="sng" w="76200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" name="Google Shape;216;p26"/>
          <p:cNvSpPr txBox="1"/>
          <p:nvPr/>
        </p:nvSpPr>
        <p:spPr>
          <a:xfrm>
            <a:off x="1091100" y="2750425"/>
            <a:ext cx="348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Scelta ambigua delle triple A,P,N nel Fine-Tuning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4572000" y="2750425"/>
            <a:ext cx="3480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Runtime</a:t>
            </a:r>
            <a:r>
              <a:rPr b="1" lang="en" sz="1700">
                <a:solidFill>
                  <a:schemeClr val="dk1"/>
                </a:solidFill>
              </a:rPr>
              <a:t> non menzionato per il Fine-Tuning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091100" y="3385325"/>
            <a:ext cx="348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Fissata la colonna A:</a:t>
            </a:r>
            <a:endParaRPr sz="13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300">
                <a:solidFill>
                  <a:schemeClr val="dk1"/>
                </a:solidFill>
              </a:rPr>
              <a:t>P contiene dati sintetici </a:t>
            </a:r>
            <a:r>
              <a:rPr lang="en" sz="1300">
                <a:solidFill>
                  <a:schemeClr val="dk1"/>
                </a:solidFill>
              </a:rPr>
              <a:t>semanticamente</a:t>
            </a:r>
            <a:r>
              <a:rPr lang="en" sz="1300">
                <a:solidFill>
                  <a:schemeClr val="dk1"/>
                </a:solidFill>
              </a:rPr>
              <a:t> uguali ad A</a:t>
            </a:r>
            <a:endParaRPr sz="13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" sz="1300">
                <a:solidFill>
                  <a:schemeClr val="dk1"/>
                </a:solidFill>
              </a:rPr>
              <a:t>N si assume sia diversa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4572000" y="3385325"/>
            <a:ext cx="3480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Potrebbe essere necessario attendere un tempo elevato per effettuare il matching tra </a:t>
            </a:r>
            <a:r>
              <a:rPr i="1" lang="en" sz="1300">
                <a:solidFill>
                  <a:schemeClr val="dk1"/>
                </a:solidFill>
              </a:rPr>
              <a:t>S</a:t>
            </a:r>
            <a:r>
              <a:rPr lang="en" sz="1300">
                <a:solidFill>
                  <a:schemeClr val="dk1"/>
                </a:solidFill>
              </a:rPr>
              <a:t> e </a:t>
            </a:r>
            <a:r>
              <a:rPr i="1" lang="en" sz="1300">
                <a:solidFill>
                  <a:schemeClr val="dk1"/>
                </a:solidFill>
              </a:rPr>
              <a:t>T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Inoltre, date tante tabelle </a:t>
            </a:r>
            <a:r>
              <a:rPr i="1" lang="en" sz="1300">
                <a:solidFill>
                  <a:schemeClr val="dk1"/>
                </a:solidFill>
              </a:rPr>
              <a:t>S</a:t>
            </a:r>
            <a:r>
              <a:rPr lang="en" sz="1300">
                <a:solidFill>
                  <a:schemeClr val="dk1"/>
                </a:solidFill>
              </a:rPr>
              <a:t>, è necessario effettuare fine-tuning su tutte?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