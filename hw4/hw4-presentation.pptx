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1a4f49892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1a4f49892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1a4f49892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1a4f49892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45ce834c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45ce834c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1a4f49892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1a4f49892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45ec6a70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45ec6a70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45ce834c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45ce834c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1a4f49892_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1a4f49892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1a4f49892_2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1a4f49892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Metti le frecce che ti piacciono a te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45ce834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45ce834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45ce834c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45ce834c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1a4f49892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1a4f49892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1a4f49892_2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1a4f49892_2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47e330ac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a47e330ac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47e330ac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a47e330ac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47e330ac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a47e330ac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47e330ac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a47e330ac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1a4f49892_2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a1a4f49892_2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a45ce834c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a45ce834c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2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5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27.png"/><Relationship Id="rId6" Type="http://schemas.openxmlformats.org/officeDocument/2006/relationships/image" Target="../media/image24.png"/><Relationship Id="rId7" Type="http://schemas.openxmlformats.org/officeDocument/2006/relationships/image" Target="../media/image15.png"/><Relationship Id="rId8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Relationship Id="rId4" Type="http://schemas.openxmlformats.org/officeDocument/2006/relationships/image" Target="../media/image3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6.png"/><Relationship Id="rId4" Type="http://schemas.openxmlformats.org/officeDocument/2006/relationships/image" Target="../media/image3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Relationship Id="rId4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DADER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Irene Proietti Cesarini, Giovanni Grieco, Silvia Mucci​</a:t>
            </a:r>
            <a:endParaRPr sz="2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Obiettivi del lavoro</a:t>
            </a:r>
            <a:r>
              <a:rPr lang="en" sz="3500"/>
              <a:t>​</a:t>
            </a:r>
            <a:endParaRPr sz="3500"/>
          </a:p>
        </p:txBody>
      </p:sp>
      <p:sp>
        <p:nvSpPr>
          <p:cNvPr id="61" name="Google Shape;61;p14"/>
          <p:cNvSpPr/>
          <p:nvPr/>
        </p:nvSpPr>
        <p:spPr>
          <a:xfrm>
            <a:off x="1196800" y="3078800"/>
            <a:ext cx="1918500" cy="1489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3612750" y="2293100"/>
            <a:ext cx="1918500" cy="22749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6028700" y="1562225"/>
            <a:ext cx="1918500" cy="3005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" name="Google Shape;64;p14"/>
          <p:cNvGrpSpPr/>
          <p:nvPr/>
        </p:nvGrpSpPr>
        <p:grpSpPr>
          <a:xfrm>
            <a:off x="1042300" y="2293100"/>
            <a:ext cx="2227500" cy="1984950"/>
            <a:chOff x="1042300" y="2293100"/>
            <a:chExt cx="2227500" cy="1984950"/>
          </a:xfrm>
        </p:grpSpPr>
        <p:sp>
          <p:nvSpPr>
            <p:cNvPr id="65" name="Google Shape;65;p14"/>
            <p:cNvSpPr txBox="1"/>
            <p:nvPr/>
          </p:nvSpPr>
          <p:spPr>
            <a:xfrm>
              <a:off x="1042300" y="3368750"/>
              <a:ext cx="2227500" cy="9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/>
                <a:t>FORMULAZIONE DEL PROBLEMA:</a:t>
              </a:r>
              <a:endParaRPr b="1" sz="1100"/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/>
                <a:t>DOMAIN </a:t>
              </a:r>
              <a:r>
                <a:rPr b="1" lang="en" sz="1100"/>
                <a:t>ADAPTATION PER ENTITY RESOLUTION</a:t>
              </a:r>
              <a:endParaRPr b="1" sz="1100"/>
            </a:p>
          </p:txBody>
        </p:sp>
        <p:pic>
          <p:nvPicPr>
            <p:cNvPr id="66" name="Google Shape;66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08800" y="2293100"/>
              <a:ext cx="694500" cy="694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7" name="Google Shape;67;p14"/>
          <p:cNvGrpSpPr/>
          <p:nvPr/>
        </p:nvGrpSpPr>
        <p:grpSpPr>
          <a:xfrm>
            <a:off x="3575100" y="1481725"/>
            <a:ext cx="1993800" cy="2282275"/>
            <a:chOff x="3575100" y="1481725"/>
            <a:chExt cx="1993800" cy="2282275"/>
          </a:xfrm>
        </p:grpSpPr>
        <p:sp>
          <p:nvSpPr>
            <p:cNvPr id="68" name="Google Shape;68;p14"/>
            <p:cNvSpPr txBox="1"/>
            <p:nvPr/>
          </p:nvSpPr>
          <p:spPr>
            <a:xfrm>
              <a:off x="3575100" y="3097100"/>
              <a:ext cx="1993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rm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dk1"/>
                  </a:solidFill>
                </a:rPr>
                <a:t>SOLUZIONE PROPOSTA: DADER</a:t>
              </a:r>
              <a:endParaRPr b="1" sz="1100">
                <a:solidFill>
                  <a:schemeClr val="dk1"/>
                </a:solidFill>
              </a:endParaRPr>
            </a:p>
          </p:txBody>
        </p:sp>
        <p:pic>
          <p:nvPicPr>
            <p:cNvPr id="69" name="Google Shape;69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224750" y="1481725"/>
              <a:ext cx="694500" cy="694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0" name="Google Shape;70;p14"/>
          <p:cNvGrpSpPr/>
          <p:nvPr/>
        </p:nvGrpSpPr>
        <p:grpSpPr>
          <a:xfrm>
            <a:off x="5991050" y="787225"/>
            <a:ext cx="1993800" cy="2625100"/>
            <a:chOff x="5991050" y="787225"/>
            <a:chExt cx="1993800" cy="2625100"/>
          </a:xfrm>
        </p:grpSpPr>
        <p:sp>
          <p:nvSpPr>
            <p:cNvPr id="71" name="Google Shape;71;p14"/>
            <p:cNvSpPr txBox="1"/>
            <p:nvPr/>
          </p:nvSpPr>
          <p:spPr>
            <a:xfrm>
              <a:off x="5991050" y="2717825"/>
              <a:ext cx="1993800" cy="69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rm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dk1"/>
                  </a:solidFill>
                </a:rPr>
                <a:t>VALUTAZIONE DEI RISULTATI SPERIMENTALI</a:t>
              </a:r>
              <a:endParaRPr b="1" sz="1100">
                <a:solidFill>
                  <a:schemeClr val="dk1"/>
                </a:solidFill>
              </a:endParaRPr>
            </a:p>
          </p:txBody>
        </p:sp>
        <p:pic>
          <p:nvPicPr>
            <p:cNvPr id="72" name="Google Shape;72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640700" y="787225"/>
              <a:ext cx="694500" cy="694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Entity Resolution</a:t>
            </a:r>
            <a:endParaRPr sz="3800"/>
          </a:p>
        </p:txBody>
      </p:sp>
      <p:sp>
        <p:nvSpPr>
          <p:cNvPr id="78" name="Google Shape;78;p15"/>
          <p:cNvSpPr txBox="1"/>
          <p:nvPr/>
        </p:nvSpPr>
        <p:spPr>
          <a:xfrm>
            <a:off x="311700" y="1122075"/>
            <a:ext cx="85206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Obiettivo</a:t>
            </a:r>
            <a:r>
              <a:rPr lang="en" sz="1800">
                <a:solidFill>
                  <a:schemeClr val="dk1"/>
                </a:solidFill>
              </a:rPr>
              <a:t>: identificare coppie di entità, provenienti da fonti differenti, che si riferiscono allo stesso oggetto reale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2992050" y="2129225"/>
            <a:ext cx="31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Fasi della </a:t>
            </a:r>
            <a:r>
              <a:rPr b="1" lang="en" sz="1800">
                <a:solidFill>
                  <a:schemeClr val="dk1"/>
                </a:solidFill>
              </a:rPr>
              <a:t>pipeline</a:t>
            </a:r>
            <a:r>
              <a:rPr lang="en" sz="1800">
                <a:solidFill>
                  <a:schemeClr val="dk1"/>
                </a:solidFill>
              </a:rPr>
              <a:t> classica:</a:t>
            </a:r>
            <a:endParaRPr b="1" sz="1800">
              <a:solidFill>
                <a:schemeClr val="dk1"/>
              </a:solidFill>
            </a:endParaRPr>
          </a:p>
        </p:txBody>
      </p:sp>
      <p:cxnSp>
        <p:nvCxnSpPr>
          <p:cNvPr id="80" name="Google Shape;80;p15"/>
          <p:cNvCxnSpPr>
            <a:stCxn id="81" idx="3"/>
            <a:endCxn id="82" idx="1"/>
          </p:cNvCxnSpPr>
          <p:nvPr/>
        </p:nvCxnSpPr>
        <p:spPr>
          <a:xfrm>
            <a:off x="2307225" y="2926138"/>
            <a:ext cx="14697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" name="Google Shape;82;p15"/>
          <p:cNvSpPr txBox="1"/>
          <p:nvPr/>
        </p:nvSpPr>
        <p:spPr>
          <a:xfrm>
            <a:off x="3776925" y="2702938"/>
            <a:ext cx="4814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elimina coppie chiaramente non in match</a:t>
            </a:r>
            <a:endParaRPr sz="1700">
              <a:solidFill>
                <a:schemeClr val="dk1"/>
              </a:solidFill>
            </a:endParaRPr>
          </a:p>
        </p:txBody>
      </p:sp>
      <p:cxnSp>
        <p:nvCxnSpPr>
          <p:cNvPr id="83" name="Google Shape;83;p15"/>
          <p:cNvCxnSpPr>
            <a:stCxn id="84" idx="3"/>
            <a:endCxn id="85" idx="1"/>
          </p:cNvCxnSpPr>
          <p:nvPr/>
        </p:nvCxnSpPr>
        <p:spPr>
          <a:xfrm>
            <a:off x="2317350" y="3504788"/>
            <a:ext cx="14697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" name="Google Shape;85;p15"/>
          <p:cNvSpPr txBox="1"/>
          <p:nvPr/>
        </p:nvSpPr>
        <p:spPr>
          <a:xfrm>
            <a:off x="3787050" y="3281588"/>
            <a:ext cx="4814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classifica le coppie rimanenti tramite un modello</a:t>
            </a:r>
            <a:endParaRPr sz="1700">
              <a:solidFill>
                <a:schemeClr val="dk1"/>
              </a:solidFill>
            </a:endParaRPr>
          </a:p>
        </p:txBody>
      </p:sp>
      <p:grpSp>
        <p:nvGrpSpPr>
          <p:cNvPr id="86" name="Google Shape;86;p15"/>
          <p:cNvGrpSpPr/>
          <p:nvPr/>
        </p:nvGrpSpPr>
        <p:grpSpPr>
          <a:xfrm>
            <a:off x="552375" y="2695288"/>
            <a:ext cx="1754850" cy="461700"/>
            <a:chOff x="562500" y="2717925"/>
            <a:chExt cx="1754850" cy="461700"/>
          </a:xfrm>
        </p:grpSpPr>
        <p:sp>
          <p:nvSpPr>
            <p:cNvPr id="81" name="Google Shape;81;p15"/>
            <p:cNvSpPr txBox="1"/>
            <p:nvPr/>
          </p:nvSpPr>
          <p:spPr>
            <a:xfrm>
              <a:off x="1029150" y="2717925"/>
              <a:ext cx="1288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dk1"/>
                  </a:solidFill>
                </a:rPr>
                <a:t>Blocking</a:t>
              </a:r>
              <a:endParaRPr sz="1800">
                <a:solidFill>
                  <a:schemeClr val="dk1"/>
                </a:solidFill>
              </a:endParaRPr>
            </a:p>
          </p:txBody>
        </p:sp>
        <p:pic>
          <p:nvPicPr>
            <p:cNvPr id="87" name="Google Shape;87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2500" y="2725575"/>
              <a:ext cx="446400" cy="446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" name="Google Shape;88;p15"/>
          <p:cNvGrpSpPr/>
          <p:nvPr/>
        </p:nvGrpSpPr>
        <p:grpSpPr>
          <a:xfrm>
            <a:off x="542250" y="3261338"/>
            <a:ext cx="1775100" cy="486900"/>
            <a:chOff x="542250" y="3525225"/>
            <a:chExt cx="1775100" cy="486900"/>
          </a:xfrm>
        </p:grpSpPr>
        <p:sp>
          <p:nvSpPr>
            <p:cNvPr id="84" name="Google Shape;84;p15"/>
            <p:cNvSpPr txBox="1"/>
            <p:nvPr/>
          </p:nvSpPr>
          <p:spPr>
            <a:xfrm>
              <a:off x="1029150" y="3537825"/>
              <a:ext cx="1288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dk1"/>
                  </a:solidFill>
                </a:rPr>
                <a:t>Matching</a:t>
              </a:r>
              <a:endParaRPr sz="1800">
                <a:solidFill>
                  <a:schemeClr val="dk1"/>
                </a:solidFill>
              </a:endParaRPr>
            </a:p>
          </p:txBody>
        </p:sp>
        <p:pic>
          <p:nvPicPr>
            <p:cNvPr id="89" name="Google Shape;89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42250" y="3525225"/>
              <a:ext cx="486900" cy="486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0" name="Google Shape;90;p15"/>
          <p:cNvSpPr txBox="1"/>
          <p:nvPr/>
        </p:nvSpPr>
        <p:spPr>
          <a:xfrm>
            <a:off x="311700" y="4041100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Problema</a:t>
            </a:r>
            <a:r>
              <a:rPr lang="en" sz="1800">
                <a:solidFill>
                  <a:schemeClr val="dk1"/>
                </a:solidFill>
              </a:rPr>
              <a:t>: richiede grandi quantità di dati etichettati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Domain Adaptation</a:t>
            </a:r>
            <a:endParaRPr sz="3800"/>
          </a:p>
        </p:txBody>
      </p:sp>
      <p:sp>
        <p:nvSpPr>
          <p:cNvPr id="96" name="Google Shape;96;p16"/>
          <p:cNvSpPr txBox="1"/>
          <p:nvPr/>
        </p:nvSpPr>
        <p:spPr>
          <a:xfrm>
            <a:off x="559500" y="1060975"/>
            <a:ext cx="8025000" cy="7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chemeClr val="dk1"/>
                </a:solidFill>
              </a:rPr>
              <a:t>È possibile utilizzare un dataset ER sorgente ben etichettato per allenare un modello che funzioni su un dominio target con zero o poche etichette?</a:t>
            </a:r>
            <a:endParaRPr i="1" sz="1700">
              <a:solidFill>
                <a:schemeClr val="dk1"/>
              </a:solidFill>
            </a:endParaRPr>
          </a:p>
        </p:txBody>
      </p:sp>
      <p:pic>
        <p:nvPicPr>
          <p:cNvPr id="97" name="Google Shape;9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3700" y="1836525"/>
            <a:ext cx="4376599" cy="241007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 txBox="1"/>
          <p:nvPr/>
        </p:nvSpPr>
        <p:spPr>
          <a:xfrm>
            <a:off x="311700" y="4335525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Si vuole</a:t>
            </a:r>
            <a:r>
              <a:rPr lang="en" sz="1800">
                <a:solidFill>
                  <a:schemeClr val="dk1"/>
                </a:solidFill>
              </a:rPr>
              <a:t> </a:t>
            </a:r>
            <a:r>
              <a:rPr b="1" lang="en" sz="1800">
                <a:solidFill>
                  <a:schemeClr val="dk1"/>
                </a:solidFill>
              </a:rPr>
              <a:t>mitigare</a:t>
            </a:r>
            <a:r>
              <a:rPr lang="en" sz="1800">
                <a:solidFill>
                  <a:schemeClr val="dk1"/>
                </a:solidFill>
              </a:rPr>
              <a:t> il problema di </a:t>
            </a:r>
            <a:r>
              <a:rPr b="1" lang="en" sz="1800">
                <a:solidFill>
                  <a:schemeClr val="dk1"/>
                </a:solidFill>
              </a:rPr>
              <a:t>domain-shift</a:t>
            </a:r>
            <a:r>
              <a:rPr lang="en" sz="1800">
                <a:solidFill>
                  <a:schemeClr val="dk1"/>
                </a:solidFill>
              </a:rPr>
              <a:t> e </a:t>
            </a:r>
            <a:r>
              <a:rPr b="1" lang="en" sz="1800">
                <a:solidFill>
                  <a:schemeClr val="dk1"/>
                </a:solidFill>
              </a:rPr>
              <a:t>ridurre</a:t>
            </a:r>
            <a:r>
              <a:rPr lang="en" sz="1800">
                <a:solidFill>
                  <a:schemeClr val="dk1"/>
                </a:solidFill>
              </a:rPr>
              <a:t> gli </a:t>
            </a:r>
            <a:r>
              <a:rPr b="1" lang="en" sz="1800">
                <a:solidFill>
                  <a:schemeClr val="dk1"/>
                </a:solidFill>
              </a:rPr>
              <a:t>errori di match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DADER (2022)</a:t>
            </a:r>
            <a:endParaRPr/>
          </a:p>
        </p:txBody>
      </p:sp>
      <p:sp>
        <p:nvSpPr>
          <p:cNvPr id="104" name="Google Shape;104;p17"/>
          <p:cNvSpPr txBox="1"/>
          <p:nvPr/>
        </p:nvSpPr>
        <p:spPr>
          <a:xfrm>
            <a:off x="311700" y="947850"/>
            <a:ext cx="41997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500">
                <a:solidFill>
                  <a:schemeClr val="dk1"/>
                </a:solidFill>
              </a:rPr>
              <a:t>Domain Adaptation for Deep Entity Resolution</a:t>
            </a:r>
            <a:endParaRPr i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311700" y="4208525"/>
            <a:ext cx="85206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L’</a:t>
            </a:r>
            <a:r>
              <a:rPr b="1" lang="en" sz="1800">
                <a:solidFill>
                  <a:schemeClr val="dk1"/>
                </a:solidFill>
              </a:rPr>
              <a:t>obiettivo</a:t>
            </a:r>
            <a:r>
              <a:rPr lang="en" sz="1800">
                <a:solidFill>
                  <a:schemeClr val="dk1"/>
                </a:solidFill>
              </a:rPr>
              <a:t> è generare </a:t>
            </a:r>
            <a:r>
              <a:rPr b="1" lang="en" sz="1800">
                <a:solidFill>
                  <a:schemeClr val="dk1"/>
                </a:solidFill>
              </a:rPr>
              <a:t>features</a:t>
            </a:r>
            <a:r>
              <a:rPr b="1" i="1" lang="en" sz="1800">
                <a:solidFill>
                  <a:schemeClr val="dk1"/>
                </a:solidFill>
              </a:rPr>
              <a:t> </a:t>
            </a:r>
            <a:r>
              <a:rPr b="1" lang="en" sz="1800">
                <a:solidFill>
                  <a:schemeClr val="dk1"/>
                </a:solidFill>
              </a:rPr>
              <a:t>domain-Invariant</a:t>
            </a:r>
            <a:r>
              <a:rPr lang="en" sz="1800">
                <a:solidFill>
                  <a:schemeClr val="dk1"/>
                </a:solidFill>
              </a:rPr>
              <a:t> e </a:t>
            </a:r>
            <a:r>
              <a:rPr b="1" lang="en" sz="1800">
                <a:solidFill>
                  <a:schemeClr val="dk1"/>
                </a:solidFill>
              </a:rPr>
              <a:t>discriminanti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106" name="Google Shape;10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3300" y="1376562"/>
            <a:ext cx="3871100" cy="2831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p17"/>
          <p:cNvGrpSpPr/>
          <p:nvPr/>
        </p:nvGrpSpPr>
        <p:grpSpPr>
          <a:xfrm>
            <a:off x="5305000" y="2128788"/>
            <a:ext cx="2465700" cy="1327500"/>
            <a:chOff x="5305000" y="2128788"/>
            <a:chExt cx="2465700" cy="1327500"/>
          </a:xfrm>
        </p:grpSpPr>
        <p:sp>
          <p:nvSpPr>
            <p:cNvPr id="108" name="Google Shape;108;p17"/>
            <p:cNvSpPr txBox="1"/>
            <p:nvPr/>
          </p:nvSpPr>
          <p:spPr>
            <a:xfrm>
              <a:off x="5305000" y="2128788"/>
              <a:ext cx="2465700" cy="132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700">
                  <a:solidFill>
                    <a:schemeClr val="dk1"/>
                  </a:solidFill>
                </a:rPr>
                <a:t>Moduli:</a:t>
              </a:r>
              <a:endParaRPr b="1" sz="1700">
                <a:solidFill>
                  <a:schemeClr val="dk1"/>
                </a:solidFill>
              </a:endParaRPr>
            </a:p>
            <a:p>
              <a:pPr indent="-3365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AutoNum type="arabicPeriod"/>
              </a:pPr>
              <a:r>
                <a:rPr i="1" lang="en" sz="1700">
                  <a:solidFill>
                    <a:schemeClr val="dk1"/>
                  </a:solidFill>
                </a:rPr>
                <a:t>Feature Extractor </a:t>
              </a:r>
              <a:endParaRPr i="1" sz="1700">
                <a:solidFill>
                  <a:schemeClr val="dk1"/>
                </a:solidFill>
              </a:endParaRPr>
            </a:p>
            <a:p>
              <a:pPr indent="-3365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AutoNum type="arabicPeriod"/>
              </a:pPr>
              <a:r>
                <a:rPr i="1" lang="en" sz="1700">
                  <a:solidFill>
                    <a:schemeClr val="dk1"/>
                  </a:solidFill>
                </a:rPr>
                <a:t>Matcher</a:t>
              </a:r>
              <a:endParaRPr i="1" sz="1700">
                <a:solidFill>
                  <a:schemeClr val="dk1"/>
                </a:solidFill>
              </a:endParaRPr>
            </a:p>
            <a:p>
              <a:pPr indent="-3365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AutoNum type="arabicPeriod"/>
              </a:pPr>
              <a:r>
                <a:rPr i="1" lang="en" sz="1700">
                  <a:solidFill>
                    <a:schemeClr val="dk1"/>
                  </a:solidFill>
                </a:rPr>
                <a:t>Feature Aligner</a:t>
              </a:r>
              <a:endParaRPr i="1" sz="1700">
                <a:solidFill>
                  <a:schemeClr val="dk1"/>
                </a:solidFill>
              </a:endParaRPr>
            </a:p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</a:endParaRPr>
            </a:p>
          </p:txBody>
        </p:sp>
        <p:pic>
          <p:nvPicPr>
            <p:cNvPr id="109" name="Google Shape;109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74175" y="3142400"/>
              <a:ext cx="243125" cy="2431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Proprietà delle features</a:t>
            </a:r>
            <a:endParaRPr/>
          </a:p>
        </p:txBody>
      </p:sp>
      <p:sp>
        <p:nvSpPr>
          <p:cNvPr id="115" name="Google Shape;115;p18"/>
          <p:cNvSpPr txBox="1"/>
          <p:nvPr/>
        </p:nvSpPr>
        <p:spPr>
          <a:xfrm>
            <a:off x="4731725" y="1751913"/>
            <a:ext cx="3765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Si vogliono features altamente informative e con dati condivisi</a:t>
            </a:r>
            <a:endParaRPr sz="1700">
              <a:solidFill>
                <a:schemeClr val="dk1"/>
              </a:solidFill>
            </a:endParaRPr>
          </a:p>
        </p:txBody>
      </p:sp>
      <p:grpSp>
        <p:nvGrpSpPr>
          <p:cNvPr id="116" name="Google Shape;116;p18"/>
          <p:cNvGrpSpPr/>
          <p:nvPr/>
        </p:nvGrpSpPr>
        <p:grpSpPr>
          <a:xfrm>
            <a:off x="646675" y="1751913"/>
            <a:ext cx="3765600" cy="880388"/>
            <a:chOff x="646675" y="1608013"/>
            <a:chExt cx="3765600" cy="880388"/>
          </a:xfrm>
        </p:grpSpPr>
        <p:sp>
          <p:nvSpPr>
            <p:cNvPr id="117" name="Google Shape;117;p18"/>
            <p:cNvSpPr txBox="1"/>
            <p:nvPr/>
          </p:nvSpPr>
          <p:spPr>
            <a:xfrm>
              <a:off x="646675" y="1608013"/>
              <a:ext cx="3765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dk1"/>
                  </a:solidFill>
                </a:rPr>
                <a:t>Si vogliono source e target features il più simili possibili</a:t>
              </a:r>
              <a:endParaRPr sz="1700">
                <a:solidFill>
                  <a:schemeClr val="dk1"/>
                </a:solidFill>
              </a:endParaRPr>
            </a:p>
          </p:txBody>
        </p:sp>
        <p:pic>
          <p:nvPicPr>
            <p:cNvPr descr="\mathbf{x}^S\sim\mathbf{x}^T&#10;%530b64d2-b628-4819-8bb5-d372272837c5" id="118" name="Google Shape;118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107275" y="2285125"/>
              <a:ext cx="844400" cy="2032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9" name="Google Shape;11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1550" y="2874000"/>
            <a:ext cx="735850" cy="73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6245275" y="2872675"/>
            <a:ext cx="738500" cy="7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/>
          <p:nvPr/>
        </p:nvSpPr>
        <p:spPr>
          <a:xfrm>
            <a:off x="1278325" y="1161625"/>
            <a:ext cx="2502300" cy="572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Domain-invariant</a:t>
            </a:r>
            <a:endParaRPr b="1" sz="1800"/>
          </a:p>
        </p:txBody>
      </p:sp>
      <p:sp>
        <p:nvSpPr>
          <p:cNvPr id="122" name="Google Shape;122;p18"/>
          <p:cNvSpPr/>
          <p:nvPr/>
        </p:nvSpPr>
        <p:spPr>
          <a:xfrm>
            <a:off x="5363375" y="1161625"/>
            <a:ext cx="25023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Discriminanza</a:t>
            </a:r>
            <a:endParaRPr b="1" sz="1800"/>
          </a:p>
        </p:txBody>
      </p:sp>
      <p:grpSp>
        <p:nvGrpSpPr>
          <p:cNvPr id="123" name="Google Shape;123;p18"/>
          <p:cNvGrpSpPr/>
          <p:nvPr/>
        </p:nvGrpSpPr>
        <p:grpSpPr>
          <a:xfrm>
            <a:off x="646675" y="3811963"/>
            <a:ext cx="3765600" cy="1058688"/>
            <a:chOff x="646675" y="3811963"/>
            <a:chExt cx="3765600" cy="1058688"/>
          </a:xfrm>
        </p:grpSpPr>
        <p:sp>
          <p:nvSpPr>
            <p:cNvPr id="124" name="Google Shape;124;p18"/>
            <p:cNvSpPr txBox="1"/>
            <p:nvPr/>
          </p:nvSpPr>
          <p:spPr>
            <a:xfrm>
              <a:off x="646675" y="3811963"/>
              <a:ext cx="37656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dk1"/>
                  </a:solidFill>
                </a:rPr>
                <a:t>Funzione di </a:t>
              </a:r>
              <a:r>
                <a:rPr b="1" lang="en" sz="1700">
                  <a:solidFill>
                    <a:schemeClr val="dk1"/>
                  </a:solidFill>
                </a:rPr>
                <a:t>Alignment Loss</a:t>
              </a:r>
              <a:endParaRPr b="1" sz="1700">
                <a:solidFill>
                  <a:schemeClr val="dk1"/>
                </a:solidFill>
              </a:endParaRPr>
            </a:p>
          </p:txBody>
        </p:sp>
        <p:sp>
          <p:nvSpPr>
            <p:cNvPr id="125" name="Google Shape;125;p18"/>
            <p:cNvSpPr/>
            <p:nvPr/>
          </p:nvSpPr>
          <p:spPr>
            <a:xfrm>
              <a:off x="2213875" y="4297950"/>
              <a:ext cx="631200" cy="572700"/>
            </a:xfrm>
            <a:prstGeom prst="roundRect">
              <a:avLst>
                <a:gd fmla="val 16667" name="adj"/>
              </a:avLst>
            </a:prstGeom>
            <a:solidFill>
              <a:srgbClr val="F4CCCC"/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\mathcal{L}_A&#10;%1a2d5b61-4bb3-41c6-b416-4548cb8dd2be" id="126" name="Google Shape;126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343738" y="4460475"/>
              <a:ext cx="37147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" name="Google Shape;127;p18"/>
          <p:cNvGrpSpPr/>
          <p:nvPr/>
        </p:nvGrpSpPr>
        <p:grpSpPr>
          <a:xfrm>
            <a:off x="4731725" y="3812625"/>
            <a:ext cx="3765600" cy="1058025"/>
            <a:chOff x="4731725" y="3812625"/>
            <a:chExt cx="3765600" cy="1058025"/>
          </a:xfrm>
        </p:grpSpPr>
        <p:sp>
          <p:nvSpPr>
            <p:cNvPr id="128" name="Google Shape;128;p18"/>
            <p:cNvSpPr txBox="1"/>
            <p:nvPr/>
          </p:nvSpPr>
          <p:spPr>
            <a:xfrm>
              <a:off x="4731725" y="3812625"/>
              <a:ext cx="37656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chemeClr val="dk1"/>
                  </a:solidFill>
                </a:rPr>
                <a:t>Funzione di </a:t>
              </a:r>
              <a:r>
                <a:rPr b="1" lang="en" sz="1700">
                  <a:solidFill>
                    <a:schemeClr val="dk1"/>
                  </a:solidFill>
                </a:rPr>
                <a:t>Matching Loss</a:t>
              </a:r>
              <a:endParaRPr b="1" sz="1700">
                <a:solidFill>
                  <a:schemeClr val="dk1"/>
                </a:solidFill>
              </a:endParaRPr>
            </a:p>
          </p:txBody>
        </p:sp>
        <p:sp>
          <p:nvSpPr>
            <p:cNvPr id="129" name="Google Shape;129;p18"/>
            <p:cNvSpPr/>
            <p:nvPr/>
          </p:nvSpPr>
          <p:spPr>
            <a:xfrm>
              <a:off x="6298925" y="4297950"/>
              <a:ext cx="631200" cy="572700"/>
            </a:xfrm>
            <a:prstGeom prst="roundRect">
              <a:avLst>
                <a:gd fmla="val 16667" name="adj"/>
              </a:avLst>
            </a:prstGeom>
            <a:solidFill>
              <a:srgbClr val="D9EAD3"/>
            </a:solidFill>
            <a:ln cap="flat" cmpd="sng" w="9525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\mathcal{L}_M&#10;%d5a9f354-203b-4ba9-bdb3-c1458fccb0e5" id="130" name="Google Shape;130;p1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400213" y="4460475"/>
              <a:ext cx="428625" cy="247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Scelte di Design</a:t>
            </a:r>
            <a:endParaRPr/>
          </a:p>
        </p:txBody>
      </p:sp>
      <p:pic>
        <p:nvPicPr>
          <p:cNvPr id="136" name="Google Shape;13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3350" y="1701650"/>
            <a:ext cx="5397301" cy="270484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9"/>
          <p:cNvSpPr txBox="1"/>
          <p:nvPr/>
        </p:nvSpPr>
        <p:spPr>
          <a:xfrm>
            <a:off x="311700" y="1017713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Per ciascun componente sono trattate diverse tipologie di applicazioni DA per ER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Metodi Discrepancy-based</a:t>
            </a:r>
            <a:endParaRPr/>
          </a:p>
        </p:txBody>
      </p:sp>
      <p:sp>
        <p:nvSpPr>
          <p:cNvPr id="143" name="Google Shape;143;p20"/>
          <p:cNvSpPr txBox="1"/>
          <p:nvPr/>
        </p:nvSpPr>
        <p:spPr>
          <a:xfrm>
            <a:off x="311700" y="1017725"/>
            <a:ext cx="860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Calcolano la </a:t>
            </a:r>
            <a:r>
              <a:rPr b="1" lang="en" sz="1800">
                <a:solidFill>
                  <a:schemeClr val="dk1"/>
                </a:solidFill>
              </a:rPr>
              <a:t>discrepanza di </a:t>
            </a:r>
            <a:r>
              <a:rPr b="1" lang="en" sz="1800">
                <a:solidFill>
                  <a:schemeClr val="dk1"/>
                </a:solidFill>
              </a:rPr>
              <a:t>distribuzione</a:t>
            </a:r>
            <a:r>
              <a:rPr lang="en" sz="1800">
                <a:solidFill>
                  <a:schemeClr val="dk1"/>
                </a:solidFill>
              </a:rPr>
              <a:t> tra source e target</a:t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234688" y="1750638"/>
            <a:ext cx="2987950" cy="2032175"/>
            <a:chOff x="1234688" y="1629000"/>
            <a:chExt cx="2987950" cy="2032175"/>
          </a:xfrm>
        </p:grpSpPr>
        <p:pic>
          <p:nvPicPr>
            <p:cNvPr id="145" name="Google Shape;145;p20" title="Screenshot 2025-11-16 alle 20.07.41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34688" y="1629000"/>
              <a:ext cx="2987950" cy="1653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20"/>
            <p:cNvSpPr txBox="1"/>
            <p:nvPr/>
          </p:nvSpPr>
          <p:spPr>
            <a:xfrm>
              <a:off x="1995650" y="3276275"/>
              <a:ext cx="11694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2"/>
                  </a:solidFill>
                </a:rPr>
                <a:t>Metrica </a:t>
              </a:r>
              <a:r>
                <a:rPr b="1" lang="en" sz="1100">
                  <a:solidFill>
                    <a:schemeClr val="dk2"/>
                  </a:solidFill>
                </a:rPr>
                <a:t>MMD</a:t>
              </a:r>
              <a:endParaRPr b="1" sz="1100">
                <a:solidFill>
                  <a:schemeClr val="dk2"/>
                </a:solidFill>
              </a:endParaRPr>
            </a:p>
          </p:txBody>
        </p:sp>
      </p:grpSp>
      <p:grpSp>
        <p:nvGrpSpPr>
          <p:cNvPr id="147" name="Google Shape;147;p20"/>
          <p:cNvGrpSpPr/>
          <p:nvPr/>
        </p:nvGrpSpPr>
        <p:grpSpPr>
          <a:xfrm>
            <a:off x="4921338" y="1756975"/>
            <a:ext cx="2987951" cy="2025838"/>
            <a:chOff x="4921338" y="1635338"/>
            <a:chExt cx="2987951" cy="2025838"/>
          </a:xfrm>
        </p:grpSpPr>
        <p:pic>
          <p:nvPicPr>
            <p:cNvPr id="148" name="Google Shape;148;p20" title="Screenshot 2025-11-16 alle 20.08.07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21338" y="1635338"/>
              <a:ext cx="2987951" cy="16409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" name="Google Shape;149;p20"/>
            <p:cNvSpPr txBox="1"/>
            <p:nvPr/>
          </p:nvSpPr>
          <p:spPr>
            <a:xfrm>
              <a:off x="5678025" y="3276275"/>
              <a:ext cx="14703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2"/>
                  </a:solidFill>
                </a:rPr>
                <a:t>Metrica </a:t>
              </a:r>
              <a:r>
                <a:rPr b="1" lang="en" sz="1100">
                  <a:solidFill>
                    <a:schemeClr val="dk2"/>
                  </a:solidFill>
                </a:rPr>
                <a:t>K-orders</a:t>
              </a:r>
              <a:endParaRPr b="1" sz="1100">
                <a:solidFill>
                  <a:schemeClr val="dk2"/>
                </a:solidFill>
              </a:endParaRPr>
            </a:p>
          </p:txBody>
        </p:sp>
      </p:grpSp>
      <p:sp>
        <p:nvSpPr>
          <p:cNvPr id="150" name="Google Shape;150;p20"/>
          <p:cNvSpPr txBox="1"/>
          <p:nvPr/>
        </p:nvSpPr>
        <p:spPr>
          <a:xfrm>
            <a:off x="311700" y="4054050"/>
            <a:ext cx="5262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Vantaggi: semplicità e stabilità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Metodi Adversarial-based</a:t>
            </a:r>
            <a:endParaRPr/>
          </a:p>
        </p:txBody>
      </p:sp>
      <p:sp>
        <p:nvSpPr>
          <p:cNvPr id="156" name="Google Shape;156;p21"/>
          <p:cNvSpPr txBox="1"/>
          <p:nvPr/>
        </p:nvSpPr>
        <p:spPr>
          <a:xfrm>
            <a:off x="311700" y="1017725"/>
            <a:ext cx="852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Utilizzano un </a:t>
            </a:r>
            <a:r>
              <a:rPr b="1" lang="en" sz="1800">
                <a:solidFill>
                  <a:schemeClr val="dk1"/>
                </a:solidFill>
              </a:rPr>
              <a:t>classificatore di dominio binario</a:t>
            </a:r>
            <a:r>
              <a:rPr lang="en" sz="1800">
                <a:solidFill>
                  <a:schemeClr val="dk1"/>
                </a:solidFill>
              </a:rPr>
              <a:t> ed un processo di </a:t>
            </a:r>
            <a:r>
              <a:rPr b="1" lang="en" sz="1800">
                <a:solidFill>
                  <a:schemeClr val="dk1"/>
                </a:solidFill>
              </a:rPr>
              <a:t>adversarial training</a:t>
            </a:r>
            <a:endParaRPr b="1" sz="1800">
              <a:solidFill>
                <a:schemeClr val="dk1"/>
              </a:solidFill>
            </a:endParaRPr>
          </a:p>
        </p:txBody>
      </p:sp>
      <p:grpSp>
        <p:nvGrpSpPr>
          <p:cNvPr id="157" name="Google Shape;157;p21"/>
          <p:cNvGrpSpPr/>
          <p:nvPr/>
        </p:nvGrpSpPr>
        <p:grpSpPr>
          <a:xfrm>
            <a:off x="311700" y="1955100"/>
            <a:ext cx="2699050" cy="1856088"/>
            <a:chOff x="311700" y="1927675"/>
            <a:chExt cx="2699050" cy="1856088"/>
          </a:xfrm>
        </p:grpSpPr>
        <p:pic>
          <p:nvPicPr>
            <p:cNvPr id="158" name="Google Shape;158;p21" title="Screenshot 2025-11-16 alle 20.18.41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700" y="1927675"/>
              <a:ext cx="2699050" cy="1470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" name="Google Shape;159;p21"/>
            <p:cNvSpPr txBox="1"/>
            <p:nvPr/>
          </p:nvSpPr>
          <p:spPr>
            <a:xfrm>
              <a:off x="1076525" y="3398863"/>
              <a:ext cx="11694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2"/>
                  </a:solidFill>
                </a:rPr>
                <a:t>Metodo</a:t>
              </a:r>
              <a:r>
                <a:rPr lang="en" sz="1100">
                  <a:solidFill>
                    <a:schemeClr val="dk2"/>
                  </a:solidFill>
                </a:rPr>
                <a:t> </a:t>
              </a:r>
              <a:r>
                <a:rPr b="1" lang="en" sz="1100">
                  <a:solidFill>
                    <a:schemeClr val="dk2"/>
                  </a:solidFill>
                </a:rPr>
                <a:t>GRL</a:t>
              </a:r>
              <a:endParaRPr b="1" sz="1100">
                <a:solidFill>
                  <a:schemeClr val="dk2"/>
                </a:solidFill>
              </a:endParaRPr>
            </a:p>
          </p:txBody>
        </p:sp>
      </p:grpSp>
      <p:grpSp>
        <p:nvGrpSpPr>
          <p:cNvPr id="160" name="Google Shape;160;p21"/>
          <p:cNvGrpSpPr/>
          <p:nvPr/>
        </p:nvGrpSpPr>
        <p:grpSpPr>
          <a:xfrm>
            <a:off x="3239478" y="1955100"/>
            <a:ext cx="2665049" cy="1856100"/>
            <a:chOff x="3239478" y="1927675"/>
            <a:chExt cx="2665049" cy="1856100"/>
          </a:xfrm>
        </p:grpSpPr>
        <p:pic>
          <p:nvPicPr>
            <p:cNvPr id="161" name="Google Shape;161;p21" title="Screenshot 2025-11-16 alle 20.19.06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239478" y="1927675"/>
              <a:ext cx="2665049" cy="1470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21"/>
            <p:cNvSpPr txBox="1"/>
            <p:nvPr/>
          </p:nvSpPr>
          <p:spPr>
            <a:xfrm>
              <a:off x="3949950" y="3398875"/>
              <a:ext cx="12441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2"/>
                  </a:solidFill>
                </a:rPr>
                <a:t>Metodo </a:t>
              </a:r>
              <a:r>
                <a:rPr b="1" lang="en" sz="1100">
                  <a:solidFill>
                    <a:schemeClr val="dk2"/>
                  </a:solidFill>
                </a:rPr>
                <a:t>InvGAN</a:t>
              </a:r>
              <a:endParaRPr b="1" sz="1100">
                <a:solidFill>
                  <a:schemeClr val="dk2"/>
                </a:solidFill>
              </a:endParaRPr>
            </a:p>
          </p:txBody>
        </p:sp>
      </p:grpSp>
      <p:grpSp>
        <p:nvGrpSpPr>
          <p:cNvPr id="163" name="Google Shape;163;p21"/>
          <p:cNvGrpSpPr/>
          <p:nvPr/>
        </p:nvGrpSpPr>
        <p:grpSpPr>
          <a:xfrm>
            <a:off x="6133250" y="1954763"/>
            <a:ext cx="2699051" cy="1856437"/>
            <a:chOff x="6133250" y="1927338"/>
            <a:chExt cx="2699051" cy="1856437"/>
          </a:xfrm>
        </p:grpSpPr>
        <p:pic>
          <p:nvPicPr>
            <p:cNvPr id="164" name="Google Shape;164;p21" title="Screenshot 2025-11-16 alle 20.19.27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133250" y="1927338"/>
              <a:ext cx="2699051" cy="14715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p21"/>
            <p:cNvSpPr txBox="1"/>
            <p:nvPr/>
          </p:nvSpPr>
          <p:spPr>
            <a:xfrm>
              <a:off x="6697375" y="3398875"/>
              <a:ext cx="15708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2"/>
                  </a:solidFill>
                </a:rPr>
                <a:t>Metodo </a:t>
              </a:r>
              <a:r>
                <a:rPr b="1" lang="en" sz="1100">
                  <a:solidFill>
                    <a:schemeClr val="dk2"/>
                  </a:solidFill>
                </a:rPr>
                <a:t>InvGAN+KD</a:t>
              </a:r>
              <a:endParaRPr b="1" sz="1100">
                <a:solidFill>
                  <a:schemeClr val="dk2"/>
                </a:solidFill>
              </a:endParaRPr>
            </a:p>
          </p:txBody>
        </p:sp>
      </p:grpSp>
      <p:cxnSp>
        <p:nvCxnSpPr>
          <p:cNvPr id="166" name="Google Shape;166;p21"/>
          <p:cNvCxnSpPr>
            <a:stCxn id="162" idx="2"/>
            <a:endCxn id="167" idx="0"/>
          </p:cNvCxnSpPr>
          <p:nvPr/>
        </p:nvCxnSpPr>
        <p:spPr>
          <a:xfrm>
            <a:off x="4572000" y="3811200"/>
            <a:ext cx="0" cy="49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" name="Google Shape;167;p21"/>
          <p:cNvSpPr txBox="1"/>
          <p:nvPr/>
        </p:nvSpPr>
        <p:spPr>
          <a:xfrm>
            <a:off x="2828850" y="4303200"/>
            <a:ext cx="348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dk1"/>
                </a:solidFill>
              </a:rPr>
              <a:t>Problema</a:t>
            </a:r>
            <a:r>
              <a:rPr lang="en" sz="1500">
                <a:solidFill>
                  <a:schemeClr val="dk1"/>
                </a:solidFill>
              </a:rPr>
              <a:t>: features molto discriminanti</a:t>
            </a:r>
            <a:endParaRPr sz="1500">
              <a:solidFill>
                <a:schemeClr val="dk1"/>
              </a:solidFill>
            </a:endParaRPr>
          </a:p>
        </p:txBody>
      </p:sp>
      <p:grpSp>
        <p:nvGrpSpPr>
          <p:cNvPr id="168" name="Google Shape;168;p21"/>
          <p:cNvGrpSpPr/>
          <p:nvPr/>
        </p:nvGrpSpPr>
        <p:grpSpPr>
          <a:xfrm>
            <a:off x="6315150" y="3700498"/>
            <a:ext cx="1167600" cy="795152"/>
            <a:chOff x="6315150" y="3700498"/>
            <a:chExt cx="1167600" cy="795152"/>
          </a:xfrm>
        </p:grpSpPr>
        <p:cxnSp>
          <p:nvCxnSpPr>
            <p:cNvPr id="169" name="Google Shape;169;p21"/>
            <p:cNvCxnSpPr>
              <a:stCxn id="167" idx="3"/>
              <a:endCxn id="165" idx="2"/>
            </p:cNvCxnSpPr>
            <p:nvPr/>
          </p:nvCxnSpPr>
          <p:spPr>
            <a:xfrm flipH="1" rot="10800000">
              <a:off x="6315150" y="3811350"/>
              <a:ext cx="1167600" cy="684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0" name="Google Shape;170;p21"/>
            <p:cNvSpPr txBox="1"/>
            <p:nvPr/>
          </p:nvSpPr>
          <p:spPr>
            <a:xfrm rot="-1830985">
              <a:off x="6470631" y="3895616"/>
              <a:ext cx="856662" cy="323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</a:rPr>
                <a:t>Soluzione</a:t>
              </a:r>
              <a:endParaRPr sz="9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Metodi Reconstruction-based</a:t>
            </a:r>
            <a:endParaRPr/>
          </a:p>
        </p:txBody>
      </p:sp>
      <p:sp>
        <p:nvSpPr>
          <p:cNvPr id="176" name="Google Shape;176;p22"/>
          <p:cNvSpPr txBox="1"/>
          <p:nvPr/>
        </p:nvSpPr>
        <p:spPr>
          <a:xfrm>
            <a:off x="5259000" y="3295525"/>
            <a:ext cx="15300" cy="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311700" y="1017725"/>
            <a:ext cx="852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Fanno uso di un </a:t>
            </a:r>
            <a:r>
              <a:rPr b="1" lang="en" sz="1800">
                <a:solidFill>
                  <a:schemeClr val="dk1"/>
                </a:solidFill>
              </a:rPr>
              <a:t>task ausiliario</a:t>
            </a:r>
            <a:r>
              <a:rPr lang="en" sz="1800">
                <a:solidFill>
                  <a:schemeClr val="dk1"/>
                </a:solidFill>
              </a:rPr>
              <a:t> per </a:t>
            </a:r>
            <a:r>
              <a:rPr b="1" lang="en" sz="1800">
                <a:solidFill>
                  <a:schemeClr val="dk1"/>
                </a:solidFill>
              </a:rPr>
              <a:t>catturare uno spazio nascosto condiviso</a:t>
            </a:r>
            <a:r>
              <a:rPr lang="en" sz="1800">
                <a:solidFill>
                  <a:schemeClr val="dk1"/>
                </a:solidFill>
              </a:rPr>
              <a:t> fra i due domini</a:t>
            </a:r>
            <a:endParaRPr b="1" sz="1800">
              <a:solidFill>
                <a:schemeClr val="dk1"/>
              </a:solidFill>
            </a:endParaRPr>
          </a:p>
        </p:txBody>
      </p:sp>
      <p:grpSp>
        <p:nvGrpSpPr>
          <p:cNvPr id="178" name="Google Shape;178;p22"/>
          <p:cNvGrpSpPr/>
          <p:nvPr/>
        </p:nvGrpSpPr>
        <p:grpSpPr>
          <a:xfrm>
            <a:off x="2804023" y="1892975"/>
            <a:ext cx="3535949" cy="2311537"/>
            <a:chOff x="2804023" y="1892975"/>
            <a:chExt cx="3535949" cy="2311537"/>
          </a:xfrm>
        </p:grpSpPr>
        <p:pic>
          <p:nvPicPr>
            <p:cNvPr id="179" name="Google Shape;179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04023" y="1892975"/>
              <a:ext cx="3535949" cy="1926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p22"/>
            <p:cNvSpPr txBox="1"/>
            <p:nvPr/>
          </p:nvSpPr>
          <p:spPr>
            <a:xfrm>
              <a:off x="3987300" y="3819613"/>
              <a:ext cx="11694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2"/>
                  </a:solidFill>
                </a:rPr>
                <a:t>Metodo </a:t>
              </a:r>
              <a:r>
                <a:rPr b="1" lang="en" sz="1100">
                  <a:solidFill>
                    <a:schemeClr val="dk2"/>
                  </a:solidFill>
                </a:rPr>
                <a:t>ED</a:t>
              </a:r>
              <a:endParaRPr b="1" sz="1100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Setup Sperimentale</a:t>
            </a:r>
            <a:endParaRPr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37763" y="1426870"/>
            <a:ext cx="3393300" cy="2700583"/>
            <a:chOff x="1031125" y="1426870"/>
            <a:chExt cx="3393300" cy="2700583"/>
          </a:xfrm>
        </p:grpSpPr>
        <p:sp>
          <p:nvSpPr>
            <p:cNvPr id="187" name="Google Shape;187;p23"/>
            <p:cNvSpPr/>
            <p:nvPr/>
          </p:nvSpPr>
          <p:spPr>
            <a:xfrm>
              <a:off x="1031125" y="1426870"/>
              <a:ext cx="3393300" cy="2700583"/>
            </a:xfrm>
            <a:prstGeom prst="flowChartAlternateProcess">
              <a:avLst/>
            </a:prstGeom>
            <a:solidFill>
              <a:srgbClr val="FFF2CC"/>
            </a:solidFill>
            <a:ln cap="flat" cmpd="sng" w="1092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4825" lIns="104825" spcFirstLastPara="1" rIns="104825" wrap="square" tIns="104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5"/>
            </a:p>
          </p:txBody>
        </p:sp>
        <p:pic>
          <p:nvPicPr>
            <p:cNvPr id="188" name="Google Shape;188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97875" y="3072550"/>
              <a:ext cx="901325" cy="9013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9" name="Google Shape;189;p23"/>
          <p:cNvGrpSpPr/>
          <p:nvPr/>
        </p:nvGrpSpPr>
        <p:grpSpPr>
          <a:xfrm>
            <a:off x="4803044" y="1426931"/>
            <a:ext cx="3393411" cy="2700479"/>
            <a:chOff x="4719444" y="1426931"/>
            <a:chExt cx="3393411" cy="2700479"/>
          </a:xfrm>
        </p:grpSpPr>
        <p:sp>
          <p:nvSpPr>
            <p:cNvPr id="190" name="Google Shape;190;p23"/>
            <p:cNvSpPr/>
            <p:nvPr/>
          </p:nvSpPr>
          <p:spPr>
            <a:xfrm>
              <a:off x="4719444" y="1426931"/>
              <a:ext cx="3393411" cy="2700479"/>
            </a:xfrm>
            <a:prstGeom prst="flowChartAlternateProcess">
              <a:avLst/>
            </a:prstGeom>
            <a:solidFill>
              <a:srgbClr val="FCE5CD"/>
            </a:solidFill>
            <a:ln cap="flat" cmpd="sng" w="10925">
              <a:solidFill>
                <a:srgbClr val="F6B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4825" lIns="104825" spcFirstLastPara="1" rIns="104825" wrap="square" tIns="104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5"/>
            </a:p>
          </p:txBody>
        </p:sp>
        <p:pic>
          <p:nvPicPr>
            <p:cNvPr id="191" name="Google Shape;191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087325" y="3072550"/>
              <a:ext cx="901325" cy="9013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2" name="Google Shape;192;p23"/>
          <p:cNvSpPr txBox="1"/>
          <p:nvPr/>
        </p:nvSpPr>
        <p:spPr>
          <a:xfrm>
            <a:off x="1451924" y="1610275"/>
            <a:ext cx="2565000" cy="13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Dataset</a:t>
            </a:r>
            <a:r>
              <a:rPr lang="en" sz="1700">
                <a:solidFill>
                  <a:schemeClr val="dk1"/>
                </a:solidFill>
              </a:rPr>
              <a:t> utilizzati:</a:t>
            </a:r>
            <a:endParaRPr sz="17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700">
                <a:solidFill>
                  <a:schemeClr val="dk1"/>
                </a:solidFill>
              </a:rPr>
              <a:t>DeepMatcher</a:t>
            </a:r>
            <a:endParaRPr sz="17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700">
                <a:solidFill>
                  <a:schemeClr val="dk1"/>
                </a:solidFill>
              </a:rPr>
              <a:t>Magellan</a:t>
            </a:r>
            <a:endParaRPr sz="17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700">
                <a:solidFill>
                  <a:schemeClr val="dk1"/>
                </a:solidFill>
              </a:rPr>
              <a:t>WDC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93" name="Google Shape;193;p23"/>
          <p:cNvSpPr txBox="1"/>
          <p:nvPr/>
        </p:nvSpPr>
        <p:spPr>
          <a:xfrm>
            <a:off x="4886654" y="1596785"/>
            <a:ext cx="3226200" cy="13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825" lIns="104825" spcFirstLastPara="1" rIns="104825" wrap="square" tIns="1048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Impostazioni</a:t>
            </a:r>
            <a:r>
              <a:rPr lang="en" sz="1700">
                <a:solidFill>
                  <a:schemeClr val="dk1"/>
                </a:solidFill>
              </a:rPr>
              <a:t> di DADER</a:t>
            </a:r>
            <a:r>
              <a:rPr lang="en" sz="1700">
                <a:solidFill>
                  <a:schemeClr val="dk1"/>
                </a:solidFill>
              </a:rPr>
              <a:t>:</a:t>
            </a:r>
            <a:endParaRPr sz="1700">
              <a:solidFill>
                <a:schemeClr val="dk1"/>
              </a:solidFill>
            </a:endParaRPr>
          </a:p>
          <a:p>
            <a:pPr indent="-338298" lvl="0" marL="52419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700">
                <a:solidFill>
                  <a:schemeClr val="dk1"/>
                </a:solidFill>
              </a:rPr>
              <a:t>dataset target suddiviso con </a:t>
            </a:r>
            <a:r>
              <a:rPr lang="en" sz="1700">
                <a:solidFill>
                  <a:schemeClr val="dk1"/>
                </a:solidFill>
              </a:rPr>
              <a:t>ratio 1:9</a:t>
            </a:r>
            <a:endParaRPr sz="1700">
              <a:solidFill>
                <a:schemeClr val="dk1"/>
              </a:solidFill>
            </a:endParaRPr>
          </a:p>
          <a:p>
            <a:pPr indent="-338298" lvl="0" marL="52419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700">
                <a:solidFill>
                  <a:schemeClr val="dk1"/>
                </a:solidFill>
              </a:rPr>
              <a:t>40 epoche di training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Metriche utilizzate</a:t>
            </a:r>
            <a:endParaRPr/>
          </a:p>
        </p:txBody>
      </p:sp>
      <p:sp>
        <p:nvSpPr>
          <p:cNvPr id="199" name="Google Shape;199;p24"/>
          <p:cNvSpPr txBox="1"/>
          <p:nvPr/>
        </p:nvSpPr>
        <p:spPr>
          <a:xfrm>
            <a:off x="311700" y="1017725"/>
            <a:ext cx="852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La </a:t>
            </a:r>
            <a:r>
              <a:rPr b="1" lang="en" sz="1800">
                <a:solidFill>
                  <a:schemeClr val="dk1"/>
                </a:solidFill>
              </a:rPr>
              <a:t>metrica complessiva</a:t>
            </a:r>
            <a:r>
              <a:rPr lang="en" sz="1800">
                <a:solidFill>
                  <a:schemeClr val="dk1"/>
                </a:solidFill>
              </a:rPr>
              <a:t> considerata è </a:t>
            </a:r>
            <a:r>
              <a:rPr b="1" lang="en" sz="1800">
                <a:solidFill>
                  <a:schemeClr val="dk1"/>
                </a:solidFill>
              </a:rPr>
              <a:t>F1 score</a:t>
            </a:r>
            <a:r>
              <a:rPr lang="en" sz="1800">
                <a:solidFill>
                  <a:schemeClr val="dk1"/>
                </a:solidFill>
              </a:rPr>
              <a:t>: media tra precision e recall delle coppie classificate come in match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200" name="Google Shape;200;p24" title="Screenshot 2025-11-16 alle 21.18.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2688" y="2765375"/>
            <a:ext cx="2078774" cy="657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" name="Google Shape;201;p24"/>
          <p:cNvGrpSpPr/>
          <p:nvPr/>
        </p:nvGrpSpPr>
        <p:grpSpPr>
          <a:xfrm>
            <a:off x="1664038" y="2318925"/>
            <a:ext cx="2001425" cy="657150"/>
            <a:chOff x="1197700" y="2306375"/>
            <a:chExt cx="2001425" cy="657150"/>
          </a:xfrm>
        </p:grpSpPr>
        <p:pic>
          <p:nvPicPr>
            <p:cNvPr id="202" name="Google Shape;202;p24" title="Screenshot 2025-11-16 alle 21.17.34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661400" y="2306375"/>
              <a:ext cx="1537725" cy="657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97700" y="2403100"/>
              <a:ext cx="463700" cy="463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4" name="Google Shape;204;p24"/>
          <p:cNvGrpSpPr/>
          <p:nvPr/>
        </p:nvGrpSpPr>
        <p:grpSpPr>
          <a:xfrm>
            <a:off x="1664038" y="3211825"/>
            <a:ext cx="2086458" cy="657150"/>
            <a:chOff x="1197700" y="3199275"/>
            <a:chExt cx="2086458" cy="657150"/>
          </a:xfrm>
        </p:grpSpPr>
        <p:pic>
          <p:nvPicPr>
            <p:cNvPr id="205" name="Google Shape;205;p24" title="Screenshot 2025-11-16 alle 21.17.55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661400" y="3199275"/>
              <a:ext cx="1622758" cy="657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2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197700" y="3199275"/>
              <a:ext cx="463700" cy="4637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7" name="Google Shape;207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57671" y="2660025"/>
            <a:ext cx="867850" cy="86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Risultati</a:t>
            </a:r>
            <a:endParaRPr/>
          </a:p>
        </p:txBody>
      </p:sp>
      <p:sp>
        <p:nvSpPr>
          <p:cNvPr id="213" name="Google Shape;213;p25"/>
          <p:cNvSpPr txBox="1"/>
          <p:nvPr/>
        </p:nvSpPr>
        <p:spPr>
          <a:xfrm>
            <a:off x="311700" y="1017725"/>
            <a:ext cx="5262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Si è giunti a sette </a:t>
            </a:r>
            <a:r>
              <a:rPr b="1" lang="en" sz="1700">
                <a:solidFill>
                  <a:schemeClr val="dk1"/>
                </a:solidFill>
              </a:rPr>
              <a:t>osservazioni chiave</a:t>
            </a:r>
            <a:endParaRPr b="1" sz="1700">
              <a:solidFill>
                <a:schemeClr val="dk1"/>
              </a:solidFill>
            </a:endParaRPr>
          </a:p>
        </p:txBody>
      </p:sp>
      <p:grpSp>
        <p:nvGrpSpPr>
          <p:cNvPr id="214" name="Google Shape;214;p25"/>
          <p:cNvGrpSpPr/>
          <p:nvPr/>
        </p:nvGrpSpPr>
        <p:grpSpPr>
          <a:xfrm>
            <a:off x="1331025" y="1620686"/>
            <a:ext cx="5580900" cy="1158199"/>
            <a:chOff x="30050" y="1552388"/>
            <a:chExt cx="5580900" cy="1294800"/>
          </a:xfrm>
        </p:grpSpPr>
        <p:sp>
          <p:nvSpPr>
            <p:cNvPr id="215" name="Google Shape;215;p25"/>
            <p:cNvSpPr/>
            <p:nvPr/>
          </p:nvSpPr>
          <p:spPr>
            <a:xfrm>
              <a:off x="30050" y="1552388"/>
              <a:ext cx="5580900" cy="1294800"/>
            </a:xfrm>
            <a:prstGeom prst="homePlate">
              <a:avLst>
                <a:gd fmla="val 50000" name="adj"/>
              </a:avLst>
            </a:prstGeom>
            <a:solidFill>
              <a:srgbClr val="CFE2F3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5"/>
            <p:cNvSpPr txBox="1"/>
            <p:nvPr/>
          </p:nvSpPr>
          <p:spPr>
            <a:xfrm>
              <a:off x="239325" y="1599041"/>
              <a:ext cx="4551600" cy="12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</a:rPr>
                <a:t>La DA è </a:t>
              </a:r>
              <a:r>
                <a:rPr b="1" lang="en" sz="1500">
                  <a:solidFill>
                    <a:schemeClr val="dk1"/>
                  </a:solidFill>
                </a:rPr>
                <a:t>utile</a:t>
              </a:r>
              <a:r>
                <a:rPr lang="en" sz="1500">
                  <a:solidFill>
                    <a:schemeClr val="dk1"/>
                  </a:solidFill>
                </a:rPr>
                <a:t> sia in scenari in cui i domini source e target sono simili e sia in scenari in cui i domini sono differenti, ciò che </a:t>
              </a:r>
              <a:r>
                <a:rPr b="1" lang="en" sz="1500">
                  <a:solidFill>
                    <a:schemeClr val="dk1"/>
                  </a:solidFill>
                </a:rPr>
                <a:t>varia</a:t>
              </a:r>
              <a:r>
                <a:rPr lang="en" sz="1500">
                  <a:solidFill>
                    <a:schemeClr val="dk1"/>
                  </a:solidFill>
                </a:rPr>
                <a:t> è l’</a:t>
              </a:r>
              <a:r>
                <a:rPr b="1" lang="en" sz="1500">
                  <a:solidFill>
                    <a:schemeClr val="dk1"/>
                  </a:solidFill>
                </a:rPr>
                <a:t>entità del </a:t>
              </a:r>
              <a:r>
                <a:rPr b="1" lang="en" sz="1500">
                  <a:solidFill>
                    <a:schemeClr val="dk1"/>
                  </a:solidFill>
                </a:rPr>
                <a:t>miglioramento</a:t>
              </a:r>
              <a:r>
                <a:rPr b="1" lang="en" sz="1500">
                  <a:solidFill>
                    <a:schemeClr val="dk1"/>
                  </a:solidFill>
                </a:rPr>
                <a:t> fornita</a:t>
              </a:r>
              <a:endParaRPr b="1" sz="1500">
                <a:solidFill>
                  <a:schemeClr val="dk1"/>
                </a:solidFill>
              </a:endParaRPr>
            </a:p>
          </p:txBody>
        </p:sp>
      </p:grpSp>
      <p:pic>
        <p:nvPicPr>
          <p:cNvPr id="217" name="Google Shape;21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56475"/>
            <a:ext cx="886625" cy="88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5" title="Screenshot 2025-11-17 alle 09.03.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9999" y="2935450"/>
            <a:ext cx="6224024" cy="196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Risultati</a:t>
            </a:r>
            <a:endParaRPr/>
          </a:p>
        </p:txBody>
      </p:sp>
      <p:pic>
        <p:nvPicPr>
          <p:cNvPr id="224" name="Google Shape;22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51412"/>
            <a:ext cx="886625" cy="886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5" name="Google Shape;225;p26"/>
          <p:cNvGrpSpPr/>
          <p:nvPr/>
        </p:nvGrpSpPr>
        <p:grpSpPr>
          <a:xfrm>
            <a:off x="1343100" y="1207021"/>
            <a:ext cx="5580900" cy="1175419"/>
            <a:chOff x="30050" y="1552388"/>
            <a:chExt cx="5580900" cy="1294800"/>
          </a:xfrm>
        </p:grpSpPr>
        <p:sp>
          <p:nvSpPr>
            <p:cNvPr id="226" name="Google Shape;226;p26"/>
            <p:cNvSpPr/>
            <p:nvPr/>
          </p:nvSpPr>
          <p:spPr>
            <a:xfrm>
              <a:off x="30050" y="1552388"/>
              <a:ext cx="5580900" cy="1294800"/>
            </a:xfrm>
            <a:prstGeom prst="homePlate">
              <a:avLst>
                <a:gd fmla="val 50000" name="adj"/>
              </a:avLst>
            </a:prstGeom>
            <a:solidFill>
              <a:srgbClr val="D9EAD3"/>
            </a:solidFill>
            <a:ln cap="flat" cmpd="sng" w="9525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6"/>
            <p:cNvSpPr txBox="1"/>
            <p:nvPr/>
          </p:nvSpPr>
          <p:spPr>
            <a:xfrm>
              <a:off x="179450" y="1589424"/>
              <a:ext cx="4648200" cy="12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</a:rPr>
                <a:t>Quando i domini source e target hanno </a:t>
              </a:r>
              <a:r>
                <a:rPr b="1" lang="en" sz="1500">
                  <a:solidFill>
                    <a:schemeClr val="dk1"/>
                  </a:solidFill>
                </a:rPr>
                <a:t>bassa MMD</a:t>
              </a:r>
              <a:r>
                <a:rPr lang="en" sz="1500">
                  <a:solidFill>
                    <a:schemeClr val="dk1"/>
                  </a:solidFill>
                </a:rPr>
                <a:t>, l’</a:t>
              </a:r>
              <a:r>
                <a:rPr b="1" lang="en" sz="1500">
                  <a:solidFill>
                    <a:schemeClr val="dk1"/>
                  </a:solidFill>
                </a:rPr>
                <a:t>F1 score</a:t>
              </a:r>
              <a:r>
                <a:rPr lang="en" sz="1500">
                  <a:solidFill>
                    <a:schemeClr val="dk1"/>
                  </a:solidFill>
                </a:rPr>
                <a:t> della DA è </a:t>
              </a:r>
              <a:r>
                <a:rPr b="1" lang="en" sz="1500">
                  <a:solidFill>
                    <a:schemeClr val="dk1"/>
                  </a:solidFill>
                </a:rPr>
                <a:t>elevato</a:t>
              </a:r>
              <a:r>
                <a:rPr lang="en" sz="1500">
                  <a:solidFill>
                    <a:schemeClr val="dk1"/>
                  </a:solidFill>
                </a:rPr>
                <a:t>.</a:t>
              </a:r>
              <a:endParaRPr sz="15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</a:rPr>
                <a:t>Questo suggerisce una </a:t>
              </a:r>
              <a:r>
                <a:rPr b="1" lang="en" sz="1500">
                  <a:solidFill>
                    <a:schemeClr val="dk1"/>
                  </a:solidFill>
                </a:rPr>
                <a:t>strategia pratica per la scelta del</a:t>
              </a:r>
              <a:r>
                <a:rPr lang="en" sz="1500">
                  <a:solidFill>
                    <a:schemeClr val="dk1"/>
                  </a:solidFill>
                </a:rPr>
                <a:t> dataset </a:t>
              </a:r>
              <a:r>
                <a:rPr b="1" lang="en" sz="1500">
                  <a:solidFill>
                    <a:schemeClr val="dk1"/>
                  </a:solidFill>
                </a:rPr>
                <a:t>source più adatto al target</a:t>
              </a:r>
              <a:endParaRPr sz="1500">
                <a:solidFill>
                  <a:schemeClr val="dk1"/>
                </a:solidFill>
              </a:endParaRPr>
            </a:p>
          </p:txBody>
        </p:sp>
      </p:grpSp>
      <p:pic>
        <p:nvPicPr>
          <p:cNvPr id="228" name="Google Shape;228;p26" title="Screenshot 2025-11-17 alle 09.14.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3300" y="2571713"/>
            <a:ext cx="3137392" cy="2348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5672" y="1386437"/>
            <a:ext cx="886625" cy="886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4" name="Google Shape;234;p27"/>
          <p:cNvGrpSpPr/>
          <p:nvPr/>
        </p:nvGrpSpPr>
        <p:grpSpPr>
          <a:xfrm>
            <a:off x="2195175" y="1160138"/>
            <a:ext cx="5580900" cy="1339200"/>
            <a:chOff x="2195175" y="1397063"/>
            <a:chExt cx="5580900" cy="1339200"/>
          </a:xfrm>
        </p:grpSpPr>
        <p:sp>
          <p:nvSpPr>
            <p:cNvPr id="235" name="Google Shape;235;p27"/>
            <p:cNvSpPr/>
            <p:nvPr/>
          </p:nvSpPr>
          <p:spPr>
            <a:xfrm rot="10800000">
              <a:off x="2195175" y="1419250"/>
              <a:ext cx="5580900" cy="1294800"/>
            </a:xfrm>
            <a:prstGeom prst="homePlate">
              <a:avLst>
                <a:gd fmla="val 50000" name="adj"/>
              </a:avLst>
            </a:prstGeom>
            <a:solidFill>
              <a:srgbClr val="FFF2CC"/>
            </a:solidFill>
            <a:ln cap="flat" cmpd="sng" w="9525">
              <a:solidFill>
                <a:srgbClr val="F1C2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7"/>
            <p:cNvSpPr txBox="1"/>
            <p:nvPr/>
          </p:nvSpPr>
          <p:spPr>
            <a:xfrm>
              <a:off x="2557425" y="1397063"/>
              <a:ext cx="5110500" cy="133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</a:rPr>
                <a:t>I metodi discrepancy-based convergono regolarmente, mentre i metodi adversarial-based tendono ad oscillare.</a:t>
              </a:r>
              <a:endParaRPr sz="1500">
                <a:solidFill>
                  <a:schemeClr val="dk1"/>
                </a:solidFill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</a:rPr>
                <a:t>Per </a:t>
              </a:r>
              <a:r>
                <a:rPr b="1" lang="en" sz="1500">
                  <a:solidFill>
                    <a:schemeClr val="dk1"/>
                  </a:solidFill>
                </a:rPr>
                <a:t>mitigare l’oscillazione</a:t>
              </a:r>
              <a:r>
                <a:rPr lang="en" sz="1500">
                  <a:solidFill>
                    <a:schemeClr val="dk1"/>
                  </a:solidFill>
                </a:rPr>
                <a:t> occorre </a:t>
              </a:r>
              <a:r>
                <a:rPr b="1" lang="en" sz="1500">
                  <a:solidFill>
                    <a:schemeClr val="dk1"/>
                  </a:solidFill>
                </a:rPr>
                <a:t>ridurre il learning rate</a:t>
              </a:r>
              <a:r>
                <a:rPr lang="en" sz="1500">
                  <a:solidFill>
                    <a:schemeClr val="dk1"/>
                  </a:solidFill>
                </a:rPr>
                <a:t>, ma questo porta ad un </a:t>
              </a:r>
              <a:r>
                <a:rPr b="1" lang="en" sz="1500">
                  <a:solidFill>
                    <a:schemeClr val="dk1"/>
                  </a:solidFill>
                </a:rPr>
                <a:t>aumento dei tempi di addestramento</a:t>
              </a:r>
              <a:endParaRPr b="1" sz="1500">
                <a:solidFill>
                  <a:schemeClr val="dk1"/>
                </a:solidFill>
              </a:endParaRPr>
            </a:p>
          </p:txBody>
        </p:sp>
      </p:grpSp>
      <p:sp>
        <p:nvSpPr>
          <p:cNvPr id="237" name="Google Shape;23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Risultati</a:t>
            </a:r>
            <a:endParaRPr/>
          </a:p>
        </p:txBody>
      </p:sp>
      <p:pic>
        <p:nvPicPr>
          <p:cNvPr id="238" name="Google Shape;238;p27" title="Screenshot 2025-11-17 alle 09.15.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5400" y="2707725"/>
            <a:ext cx="7213201" cy="20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Risultati</a:t>
            </a:r>
            <a:endParaRPr/>
          </a:p>
        </p:txBody>
      </p:sp>
      <p:pic>
        <p:nvPicPr>
          <p:cNvPr id="244" name="Google Shape;24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66587"/>
            <a:ext cx="886625" cy="886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5" name="Google Shape;245;p28"/>
          <p:cNvGrpSpPr/>
          <p:nvPr/>
        </p:nvGrpSpPr>
        <p:grpSpPr>
          <a:xfrm>
            <a:off x="1317000" y="1162500"/>
            <a:ext cx="5580900" cy="1294800"/>
            <a:chOff x="30050" y="1552388"/>
            <a:chExt cx="5580900" cy="1294800"/>
          </a:xfrm>
        </p:grpSpPr>
        <p:sp>
          <p:nvSpPr>
            <p:cNvPr id="246" name="Google Shape;246;p28"/>
            <p:cNvSpPr/>
            <p:nvPr/>
          </p:nvSpPr>
          <p:spPr>
            <a:xfrm>
              <a:off x="30050" y="1552388"/>
              <a:ext cx="5580900" cy="1294800"/>
            </a:xfrm>
            <a:prstGeom prst="homePlate">
              <a:avLst>
                <a:gd fmla="val 50000" name="adj"/>
              </a:avLst>
            </a:prstGeom>
            <a:solidFill>
              <a:srgbClr val="CFE2F3"/>
            </a:solidFill>
            <a:ln cap="flat" cmpd="sng" w="95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8"/>
            <p:cNvSpPr txBox="1"/>
            <p:nvPr/>
          </p:nvSpPr>
          <p:spPr>
            <a:xfrm>
              <a:off x="203125" y="1645700"/>
              <a:ext cx="46482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dk1"/>
                  </a:solidFill>
                </a:rPr>
                <a:t>Non tutti i metodi di DA sono adatti per l’ER</a:t>
              </a:r>
              <a:r>
                <a:rPr lang="en" sz="1500">
                  <a:solidFill>
                    <a:schemeClr val="dk1"/>
                  </a:solidFill>
                </a:rPr>
                <a:t>.</a:t>
              </a:r>
              <a:endParaRPr sz="15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</a:rPr>
                <a:t>Per un’applicazione di successo occorre </a:t>
              </a:r>
              <a:r>
                <a:rPr b="1" lang="en" sz="1500">
                  <a:solidFill>
                    <a:schemeClr val="dk1"/>
                  </a:solidFill>
                </a:rPr>
                <a:t>garantire e bilanciare</a:t>
              </a:r>
              <a:r>
                <a:rPr lang="en" sz="1500">
                  <a:solidFill>
                    <a:schemeClr val="dk1"/>
                  </a:solidFill>
                </a:rPr>
                <a:t> le </a:t>
              </a:r>
              <a:r>
                <a:rPr b="1" lang="en" sz="1500">
                  <a:solidFill>
                    <a:schemeClr val="dk1"/>
                  </a:solidFill>
                </a:rPr>
                <a:t>proprietà</a:t>
              </a:r>
              <a:r>
                <a:rPr lang="en" sz="1500">
                  <a:solidFill>
                    <a:schemeClr val="dk1"/>
                  </a:solidFill>
                </a:rPr>
                <a:t> di domain-invariance e discriminanza </a:t>
              </a:r>
              <a:r>
                <a:rPr b="1" lang="en" sz="1500">
                  <a:solidFill>
                    <a:schemeClr val="dk1"/>
                  </a:solidFill>
                </a:rPr>
                <a:t>delle features</a:t>
              </a:r>
              <a:endParaRPr b="1" sz="1500">
                <a:solidFill>
                  <a:schemeClr val="dk1"/>
                </a:solidFill>
              </a:endParaRPr>
            </a:p>
          </p:txBody>
        </p:sp>
      </p:grpSp>
      <p:pic>
        <p:nvPicPr>
          <p:cNvPr id="248" name="Google Shape;24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5675" y="3245000"/>
            <a:ext cx="886625" cy="886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" name="Google Shape;249;p28"/>
          <p:cNvGrpSpPr/>
          <p:nvPr/>
        </p:nvGrpSpPr>
        <p:grpSpPr>
          <a:xfrm>
            <a:off x="2254500" y="3040900"/>
            <a:ext cx="5580900" cy="1294800"/>
            <a:chOff x="2231350" y="3040913"/>
            <a:chExt cx="5580900" cy="1294800"/>
          </a:xfrm>
        </p:grpSpPr>
        <p:sp>
          <p:nvSpPr>
            <p:cNvPr id="250" name="Google Shape;250;p28"/>
            <p:cNvSpPr/>
            <p:nvPr/>
          </p:nvSpPr>
          <p:spPr>
            <a:xfrm rot="10800000">
              <a:off x="2231350" y="3040913"/>
              <a:ext cx="5580900" cy="1294800"/>
            </a:xfrm>
            <a:prstGeom prst="homePlate">
              <a:avLst>
                <a:gd fmla="val 50000" name="adj"/>
              </a:avLst>
            </a:prstGeom>
            <a:solidFill>
              <a:srgbClr val="F4CCCC"/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8"/>
            <p:cNvSpPr txBox="1"/>
            <p:nvPr/>
          </p:nvSpPr>
          <p:spPr>
            <a:xfrm>
              <a:off x="3067900" y="3134200"/>
              <a:ext cx="46482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</a:rPr>
                <a:t>L’</a:t>
              </a:r>
              <a:r>
                <a:rPr b="1" lang="en" sz="1500">
                  <a:solidFill>
                    <a:schemeClr val="dk1"/>
                  </a:solidFill>
                </a:rPr>
                <a:t>efficacia della DA dipende dalla trasferibilità delle rappresentazioni</a:t>
              </a:r>
              <a:r>
                <a:rPr lang="en" sz="1500">
                  <a:solidFill>
                    <a:schemeClr val="dk1"/>
                  </a:solidFill>
                </a:rPr>
                <a:t>.</a:t>
              </a:r>
              <a:endParaRPr sz="1500">
                <a:solidFill>
                  <a:schemeClr val="dk1"/>
                </a:solidFill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</a:rPr>
                <a:t>Feature Extractor implementati tramite modelli LM pre-addestrati risultano superiori ad RNN</a:t>
              </a:r>
              <a:endParaRPr sz="15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Risultati</a:t>
            </a:r>
            <a:endParaRPr/>
          </a:p>
        </p:txBody>
      </p:sp>
      <p:pic>
        <p:nvPicPr>
          <p:cNvPr id="257" name="Google Shape;25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5675" y="1338200"/>
            <a:ext cx="886625" cy="886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" name="Google Shape;258;p29"/>
          <p:cNvGrpSpPr/>
          <p:nvPr/>
        </p:nvGrpSpPr>
        <p:grpSpPr>
          <a:xfrm>
            <a:off x="2243400" y="1377412"/>
            <a:ext cx="5580900" cy="808200"/>
            <a:chOff x="2243400" y="1377412"/>
            <a:chExt cx="5580900" cy="808200"/>
          </a:xfrm>
        </p:grpSpPr>
        <p:sp>
          <p:nvSpPr>
            <p:cNvPr id="259" name="Google Shape;259;p29"/>
            <p:cNvSpPr/>
            <p:nvPr/>
          </p:nvSpPr>
          <p:spPr>
            <a:xfrm rot="10800000">
              <a:off x="2243400" y="1377412"/>
              <a:ext cx="5580900" cy="808200"/>
            </a:xfrm>
            <a:prstGeom prst="homePlate">
              <a:avLst>
                <a:gd fmla="val 50000" name="adj"/>
              </a:avLst>
            </a:prstGeom>
            <a:solidFill>
              <a:srgbClr val="D9EAD3"/>
            </a:solidFill>
            <a:ln cap="flat" cmpd="sng" w="9525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9"/>
            <p:cNvSpPr txBox="1"/>
            <p:nvPr/>
          </p:nvSpPr>
          <p:spPr>
            <a:xfrm>
              <a:off x="3092025" y="1442950"/>
              <a:ext cx="46482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dk1"/>
                  </a:solidFill>
                </a:rPr>
                <a:t>Metodi</a:t>
              </a:r>
              <a:r>
                <a:rPr lang="en" sz="1600">
                  <a:solidFill>
                    <a:schemeClr val="dk1"/>
                  </a:solidFill>
                </a:rPr>
                <a:t> di DA </a:t>
              </a:r>
              <a:r>
                <a:rPr b="1" lang="en" sz="1600">
                  <a:solidFill>
                    <a:schemeClr val="dk1"/>
                  </a:solidFill>
                </a:rPr>
                <a:t>basati su features</a:t>
              </a:r>
              <a:r>
                <a:rPr lang="en" sz="1600">
                  <a:solidFill>
                    <a:schemeClr val="dk1"/>
                  </a:solidFill>
                </a:rPr>
                <a:t> risultano essere </a:t>
              </a:r>
              <a:r>
                <a:rPr b="1" lang="en" sz="1600">
                  <a:solidFill>
                    <a:schemeClr val="dk1"/>
                  </a:solidFill>
                </a:rPr>
                <a:t>migliori</a:t>
              </a:r>
              <a:r>
                <a:rPr lang="en" sz="1600">
                  <a:solidFill>
                    <a:schemeClr val="dk1"/>
                  </a:solidFill>
                </a:rPr>
                <a:t> rispetto a quelli basati su istanze</a:t>
              </a:r>
              <a:endParaRPr sz="1600">
                <a:solidFill>
                  <a:schemeClr val="dk1"/>
                </a:solidFill>
              </a:endParaRPr>
            </a:p>
          </p:txBody>
        </p:sp>
      </p:grpSp>
      <p:pic>
        <p:nvPicPr>
          <p:cNvPr id="261" name="Google Shape;26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085275"/>
            <a:ext cx="886625" cy="886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9"/>
          <p:cNvGrpSpPr/>
          <p:nvPr/>
        </p:nvGrpSpPr>
        <p:grpSpPr>
          <a:xfrm>
            <a:off x="1302500" y="3021888"/>
            <a:ext cx="5580900" cy="1013400"/>
            <a:chOff x="1302500" y="3021888"/>
            <a:chExt cx="5580900" cy="1013400"/>
          </a:xfrm>
        </p:grpSpPr>
        <p:sp>
          <p:nvSpPr>
            <p:cNvPr id="263" name="Google Shape;263;p29"/>
            <p:cNvSpPr/>
            <p:nvPr/>
          </p:nvSpPr>
          <p:spPr>
            <a:xfrm>
              <a:off x="1302500" y="3021888"/>
              <a:ext cx="5580900" cy="1013400"/>
            </a:xfrm>
            <a:prstGeom prst="homePlate">
              <a:avLst>
                <a:gd fmla="val 50000" name="adj"/>
              </a:avLst>
            </a:prstGeom>
            <a:solidFill>
              <a:srgbClr val="FFF2CC"/>
            </a:solidFill>
            <a:ln cap="flat" cmpd="sng" w="9525">
              <a:solidFill>
                <a:srgbClr val="F1C2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9"/>
            <p:cNvSpPr txBox="1"/>
            <p:nvPr/>
          </p:nvSpPr>
          <p:spPr>
            <a:xfrm>
              <a:off x="1407600" y="3089988"/>
              <a:ext cx="4648200" cy="8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</a:rPr>
                <a:t>Anche un </a:t>
              </a:r>
              <a:r>
                <a:rPr b="1" lang="en" sz="1500">
                  <a:solidFill>
                    <a:schemeClr val="dk1"/>
                  </a:solidFill>
                </a:rPr>
                <a:t>piccolo numero di etichette nel</a:t>
              </a:r>
              <a:r>
                <a:rPr lang="en" sz="1500">
                  <a:solidFill>
                    <a:schemeClr val="dk1"/>
                  </a:solidFill>
                </a:rPr>
                <a:t> dominio </a:t>
              </a:r>
              <a:r>
                <a:rPr b="1" lang="en" sz="1500">
                  <a:solidFill>
                    <a:schemeClr val="dk1"/>
                  </a:solidFill>
                </a:rPr>
                <a:t>target</a:t>
              </a:r>
              <a:r>
                <a:rPr lang="en" sz="1500">
                  <a:solidFill>
                    <a:schemeClr val="dk1"/>
                  </a:solidFill>
                </a:rPr>
                <a:t> è </a:t>
              </a:r>
              <a:r>
                <a:rPr b="1" lang="en" sz="1500">
                  <a:solidFill>
                    <a:schemeClr val="dk1"/>
                  </a:solidFill>
                </a:rPr>
                <a:t>sufficiente per migliorare</a:t>
              </a:r>
              <a:r>
                <a:rPr lang="en" sz="1500">
                  <a:solidFill>
                    <a:schemeClr val="dk1"/>
                  </a:solidFill>
                </a:rPr>
                <a:t> (o mantenere) i risultati ottenuti dalla DA</a:t>
              </a:r>
              <a:endParaRPr sz="15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Conclusioni</a:t>
            </a:r>
            <a:endParaRPr/>
          </a:p>
        </p:txBody>
      </p:sp>
      <p:sp>
        <p:nvSpPr>
          <p:cNvPr id="270" name="Google Shape;270;p30"/>
          <p:cNvSpPr txBox="1"/>
          <p:nvPr/>
        </p:nvSpPr>
        <p:spPr>
          <a:xfrm>
            <a:off x="311700" y="1516800"/>
            <a:ext cx="8520600" cy="21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DADER dimostra che la Domain Adaptation può migliorare significativamente le prestazioni dell’ER quando esiste uno shift tra source e target, seppur </a:t>
            </a:r>
            <a:r>
              <a:rPr b="1" lang="en" sz="1700">
                <a:solidFill>
                  <a:schemeClr val="dk1"/>
                </a:solidFill>
              </a:rPr>
              <a:t>nessun metodo è universalmente vincente</a:t>
            </a:r>
            <a:r>
              <a:rPr lang="en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Nel complesso, il paper conclude che la </a:t>
            </a:r>
            <a:r>
              <a:rPr b="1" lang="en" sz="1700">
                <a:solidFill>
                  <a:schemeClr val="dk1"/>
                </a:solidFill>
              </a:rPr>
              <a:t>Domain Adaptation</a:t>
            </a:r>
            <a:r>
              <a:rPr lang="en" sz="1700">
                <a:solidFill>
                  <a:schemeClr val="dk1"/>
                </a:solidFill>
              </a:rPr>
              <a:t> è non solo </a:t>
            </a:r>
            <a:r>
              <a:rPr b="1" lang="en" sz="1700">
                <a:solidFill>
                  <a:schemeClr val="dk1"/>
                </a:solidFill>
              </a:rPr>
              <a:t>utile</a:t>
            </a:r>
            <a:r>
              <a:rPr lang="en" sz="1700">
                <a:solidFill>
                  <a:schemeClr val="dk1"/>
                </a:solidFill>
              </a:rPr>
              <a:t> ma spesso </a:t>
            </a:r>
            <a:r>
              <a:rPr b="1" lang="en" sz="1700">
                <a:solidFill>
                  <a:schemeClr val="dk1"/>
                </a:solidFill>
              </a:rPr>
              <a:t>necessaria</a:t>
            </a:r>
            <a:r>
              <a:rPr lang="en" sz="1700">
                <a:solidFill>
                  <a:schemeClr val="dk1"/>
                </a:solidFill>
              </a:rPr>
              <a:t> per rendere robusti i modelli di Deep ER </a:t>
            </a:r>
            <a:r>
              <a:rPr b="1" lang="en" sz="1700">
                <a:solidFill>
                  <a:schemeClr val="dk1"/>
                </a:solidFill>
              </a:rPr>
              <a:t>in scenari realistici</a:t>
            </a:r>
            <a:r>
              <a:rPr lang="en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Spunti di riflessione</a:t>
            </a:r>
            <a:endParaRPr/>
          </a:p>
        </p:txBody>
      </p:sp>
      <p:sp>
        <p:nvSpPr>
          <p:cNvPr id="276" name="Google Shape;276;p31"/>
          <p:cNvSpPr txBox="1"/>
          <p:nvPr/>
        </p:nvSpPr>
        <p:spPr>
          <a:xfrm>
            <a:off x="808050" y="2378700"/>
            <a:ext cx="7527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Combinare Domain Adaptation e Schema Alignment</a:t>
            </a:r>
            <a:r>
              <a:rPr lang="en" sz="1800">
                <a:solidFill>
                  <a:schemeClr val="dk1"/>
                </a:solidFill>
              </a:rPr>
              <a:t> potrebbe riddure ulteriormente il domain shift tra i dataset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77" name="Google Shape;277;p31"/>
          <p:cNvSpPr txBox="1"/>
          <p:nvPr/>
        </p:nvSpPr>
        <p:spPr>
          <a:xfrm>
            <a:off x="1940850" y="3117600"/>
            <a:ext cx="52623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</a:rPr>
              <a:t>Lo Schema Alignment non risolverebbe la mancanza di etichette, ma eliminerebbe differenze strutturali tra tabelle</a:t>
            </a:r>
            <a:endParaRPr sz="1300"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</a:rPr>
              <a:t>(che attualmente sono considerate assenti per ipotesi)</a:t>
            </a:r>
            <a:endParaRPr sz="1300">
              <a:solidFill>
                <a:srgbClr val="434343"/>
              </a:solidFill>
            </a:endParaRPr>
          </a:p>
        </p:txBody>
      </p:sp>
      <p:pic>
        <p:nvPicPr>
          <p:cNvPr id="278" name="Google Shape;27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5488" y="1365375"/>
            <a:ext cx="1013325" cy="101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